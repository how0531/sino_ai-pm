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Lst>
  <p:notesMasterIdLst>
    <p:notesMasterId r:id="rId10"/>
  </p:notesMasterIdLst>
  <p:sldIdLst>
    <p:sldId id="2147482890" r:id="rId3"/>
    <p:sldId id="2147482900" r:id="rId4"/>
    <p:sldId id="2147482901" r:id="rId5"/>
    <p:sldId id="2147482903" r:id="rId6"/>
    <p:sldId id="261" r:id="rId7"/>
    <p:sldId id="2147482904" r:id="rId8"/>
    <p:sldId id="2147482905" r:id="rId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2F2F2"/>
    <a:srgbClr val="E9F1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264" autoAdjust="0"/>
    <p:restoredTop sz="96076" autoAdjust="0"/>
  </p:normalViewPr>
  <p:slideViewPr>
    <p:cSldViewPr snapToGrid="0">
      <p:cViewPr varScale="1">
        <p:scale>
          <a:sx n="77" d="100"/>
          <a:sy n="77" d="100"/>
        </p:scale>
        <p:origin x="60" y="18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郭文浩-數位經營部-永豐金證券" userId="274e1ecc-273d-4e1f-a4ac-0f2f0565666d" providerId="ADAL" clId="{40D049B3-D0A6-43DB-8827-ED15BABCAA6A}"/>
    <pc:docChg chg="custSel modSld">
      <pc:chgData name="郭文浩-數位經營部-永豐金證券" userId="274e1ecc-273d-4e1f-a4ac-0f2f0565666d" providerId="ADAL" clId="{40D049B3-D0A6-43DB-8827-ED15BABCAA6A}" dt="2026-07-09T09:31:34.404" v="5" actId="478"/>
      <pc:docMkLst>
        <pc:docMk/>
      </pc:docMkLst>
      <pc:sldChg chg="addSp delSp modSp mod">
        <pc:chgData name="郭文浩-數位經營部-永豐金證券" userId="274e1ecc-273d-4e1f-a4ac-0f2f0565666d" providerId="ADAL" clId="{40D049B3-D0A6-43DB-8827-ED15BABCAA6A}" dt="2026-07-09T09:31:34.404" v="5" actId="478"/>
        <pc:sldMkLst>
          <pc:docMk/>
          <pc:sldMk cId="0" sldId="261"/>
        </pc:sldMkLst>
        <pc:picChg chg="del">
          <ac:chgData name="郭文浩-數位經營部-永豐金證券" userId="274e1ecc-273d-4e1f-a4ac-0f2f0565666d" providerId="ADAL" clId="{40D049B3-D0A6-43DB-8827-ED15BABCAA6A}" dt="2026-07-09T09:29:59.440" v="0" actId="478"/>
          <ac:picMkLst>
            <pc:docMk/>
            <pc:sldMk cId="0" sldId="261"/>
            <ac:picMk id="7" creationId="{B3831D22-A1CF-4098-F2EC-EFCBA42BC858}"/>
          </ac:picMkLst>
        </pc:picChg>
        <pc:picChg chg="add del mod">
          <ac:chgData name="郭文浩-數位經營部-永豐金證券" userId="274e1ecc-273d-4e1f-a4ac-0f2f0565666d" providerId="ADAL" clId="{40D049B3-D0A6-43DB-8827-ED15BABCAA6A}" dt="2026-07-09T09:31:34.404" v="5" actId="478"/>
          <ac:picMkLst>
            <pc:docMk/>
            <pc:sldMk cId="0" sldId="261"/>
            <ac:picMk id="9" creationId="{0044546F-AB75-7120-8DD8-C099F6B13DA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A1B36-CF89-4CE4-A8DF-FD84EF87482D}" type="datetimeFigureOut">
              <a:rPr lang="zh-TW" altLang="en-US" smtClean="0"/>
              <a:t>2026/7/9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E731EA-1D42-4FED-8EFB-5C1C4CB5B9F4}" type="slidenum">
              <a:rPr lang="zh-TW" altLang="en-US" smtClean="0"/>
              <a:t>‹#›</a:t>
            </a:fld>
            <a:endParaRPr lang="zh-TW" altLang="en-US"/>
          </a:p>
        </p:txBody>
      </p:sp>
    </p:spTree>
    <p:extLst>
      <p:ext uri="{BB962C8B-B14F-4D97-AF65-F5344CB8AC3E}">
        <p14:creationId xmlns:p14="http://schemas.microsoft.com/office/powerpoint/2010/main" val="670772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p5: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34" name="Google Shape;34;p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42" name="Google Shape;42;p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 name="Google Shape;66;p7: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67" name="Google Shape;67;p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8: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74" name="Google Shape;74;p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e9888fc26a_0_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g3e9888fc26a_0_5:notes"/>
          <p:cNvSpPr txBox="1">
            <a:spLocks noGrp="1"/>
          </p:cNvSpPr>
          <p:nvPr>
            <p:ph type="body" idx="1"/>
          </p:nvPr>
        </p:nvSpPr>
        <p:spPr>
          <a:xfrm>
            <a:off x="679768" y="4777194"/>
            <a:ext cx="5438100" cy="39087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82" name="Google Shape;82;g3e9888fc26a_0_5:notes"/>
          <p:cNvSpPr txBox="1">
            <a:spLocks noGrp="1"/>
          </p:cNvSpPr>
          <p:nvPr>
            <p:ph type="sldNum" idx="12"/>
          </p:nvPr>
        </p:nvSpPr>
        <p:spPr>
          <a:xfrm>
            <a:off x="3850443" y="9428584"/>
            <a:ext cx="2945700" cy="4980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9: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91" name="Google Shape;91;p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標題投影片">
    <p:spTree>
      <p:nvGrpSpPr>
        <p:cNvPr id="1" name=""/>
        <p:cNvGrpSpPr/>
        <p:nvPr/>
      </p:nvGrpSpPr>
      <p:grpSpPr>
        <a:xfrm>
          <a:off x="0" y="0"/>
          <a:ext cx="0" cy="0"/>
          <a:chOff x="0" y="0"/>
          <a:chExt cx="0" cy="0"/>
        </a:xfrm>
      </p:grpSpPr>
      <p:pic>
        <p:nvPicPr>
          <p:cNvPr id="3" name="圖片 2" descr="一張含有 符號, 圖形, 標誌, 字型 的圖片&#10;&#10;AI 產生的內容可能不正確。">
            <a:extLst>
              <a:ext uri="{FF2B5EF4-FFF2-40B4-BE49-F238E27FC236}">
                <a16:creationId xmlns:a16="http://schemas.microsoft.com/office/drawing/2014/main" id="{C6A699EE-8FDB-BF8A-D915-B400958561F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932" y="307942"/>
            <a:ext cx="2350833" cy="562759"/>
          </a:xfrm>
          <a:prstGeom prst="rect">
            <a:avLst/>
          </a:prstGeom>
        </p:spPr>
      </p:pic>
      <p:grpSp>
        <p:nvGrpSpPr>
          <p:cNvPr id="5" name="McK Title Elements"/>
          <p:cNvGrpSpPr>
            <a:grpSpLocks/>
          </p:cNvGrpSpPr>
          <p:nvPr userDrawn="1"/>
        </p:nvGrpSpPr>
        <p:grpSpPr bwMode="auto">
          <a:xfrm>
            <a:off x="3591727" y="2183416"/>
            <a:ext cx="6840045" cy="4601696"/>
            <a:chOff x="1663" y="1348"/>
            <a:chExt cx="3167" cy="2841"/>
          </a:xfrm>
        </p:grpSpPr>
        <p:sp>
          <p:nvSpPr>
            <p:cNvPr id="6" name="McK Confidential" hidden="1"/>
            <p:cNvSpPr txBox="1">
              <a:spLocks noChangeArrowheads="1"/>
            </p:cNvSpPr>
            <p:nvPr userDrawn="1"/>
          </p:nvSpPr>
          <p:spPr bwMode="auto">
            <a:xfrm>
              <a:off x="1663" y="1348"/>
              <a:ext cx="936"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28" b="0">
                  <a:ea typeface="新細明體" charset="-120"/>
                </a:rPr>
                <a:t>CONFIDENTIAL</a:t>
              </a:r>
            </a:p>
          </p:txBody>
        </p:sp>
        <p:sp>
          <p:nvSpPr>
            <p:cNvPr id="7" name="McK Document" hidden="1"/>
            <p:cNvSpPr txBox="1">
              <a:spLocks noChangeArrowheads="1"/>
            </p:cNvSpPr>
            <p:nvPr userDrawn="1"/>
          </p:nvSpPr>
          <p:spPr bwMode="auto">
            <a:xfrm>
              <a:off x="1663" y="3045"/>
              <a:ext cx="3167"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28" b="0">
                  <a:ea typeface="新細明體" charset="-120"/>
                </a:rPr>
                <a:t>Document</a:t>
              </a:r>
            </a:p>
          </p:txBody>
        </p:sp>
        <p:sp>
          <p:nvSpPr>
            <p:cNvPr id="8" name="McK Date" hidden="1"/>
            <p:cNvSpPr txBox="1">
              <a:spLocks noChangeArrowheads="1"/>
            </p:cNvSpPr>
            <p:nvPr userDrawn="1"/>
          </p:nvSpPr>
          <p:spPr bwMode="auto">
            <a:xfrm>
              <a:off x="1663" y="3216"/>
              <a:ext cx="3167"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28" b="0">
                  <a:ea typeface="新細明體" charset="-120"/>
                </a:rPr>
                <a:t>Date</a:t>
              </a:r>
            </a:p>
          </p:txBody>
        </p:sp>
        <p:sp>
          <p:nvSpPr>
            <p:cNvPr id="9" name="McK Disclaimer" hidden="1"/>
            <p:cNvSpPr>
              <a:spLocks noChangeArrowheads="1"/>
            </p:cNvSpPr>
            <p:nvPr userDrawn="1">
              <p:custDataLst>
                <p:tags r:id="rId1"/>
              </p:custDataLst>
            </p:nvPr>
          </p:nvSpPr>
          <p:spPr bwMode="auto">
            <a:xfrm>
              <a:off x="1663" y="3833"/>
              <a:ext cx="2303"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18"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133890" y="3030543"/>
            <a:ext cx="10030052"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81">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122181" y="2304993"/>
            <a:ext cx="8159422" cy="717546"/>
          </a:xfrm>
          <a:prstGeom prst="rect">
            <a:avLst/>
          </a:prstGeom>
        </p:spPr>
        <p:txBody>
          <a:bodyPr anchor="ctr"/>
          <a:lstStyle>
            <a:lvl1pPr algn="ctr">
              <a:defRPr sz="3673">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19" name="文字版面配置區 3"/>
          <p:cNvSpPr>
            <a:spLocks noGrp="1"/>
          </p:cNvSpPr>
          <p:nvPr>
            <p:ph type="body" sz="half" idx="2"/>
          </p:nvPr>
        </p:nvSpPr>
        <p:spPr>
          <a:xfrm>
            <a:off x="3128389" y="4489744"/>
            <a:ext cx="6502357" cy="559288"/>
          </a:xfrm>
          <a:prstGeom prst="rect">
            <a:avLst/>
          </a:prstGeom>
        </p:spPr>
        <p:txBody>
          <a:bodyPr anchor="ctr"/>
          <a:lstStyle>
            <a:lvl1pPr marL="0" indent="0" algn="ctr">
              <a:buNone/>
              <a:defRPr sz="2857" b="1">
                <a:latin typeface="微軟正黑體" panose="020B0604030504040204" pitchFamily="34" charset="-120"/>
                <a:ea typeface="微軟正黑體" panose="020B0604030504040204" pitchFamily="34" charset="-120"/>
              </a:defRPr>
            </a:lvl1pPr>
            <a:lvl2pPr marL="466481" indent="0">
              <a:buNone/>
              <a:defRPr sz="1224"/>
            </a:lvl2pPr>
            <a:lvl3pPr marL="932962" indent="0">
              <a:buNone/>
              <a:defRPr sz="1020"/>
            </a:lvl3pPr>
            <a:lvl4pPr marL="1399443" indent="0">
              <a:buNone/>
              <a:defRPr sz="918"/>
            </a:lvl4pPr>
            <a:lvl5pPr marL="1865925" indent="0">
              <a:buNone/>
              <a:defRPr sz="918"/>
            </a:lvl5pPr>
            <a:lvl6pPr marL="2332406" indent="0">
              <a:buNone/>
              <a:defRPr sz="918"/>
            </a:lvl6pPr>
            <a:lvl7pPr marL="2798887" indent="0">
              <a:buNone/>
              <a:defRPr sz="918"/>
            </a:lvl7pPr>
            <a:lvl8pPr marL="3265368" indent="0">
              <a:buNone/>
              <a:defRPr sz="918"/>
            </a:lvl8pPr>
            <a:lvl9pPr marL="3731849" indent="0">
              <a:buNone/>
              <a:defRPr sz="918"/>
            </a:lvl9pPr>
          </a:lstStyle>
          <a:p>
            <a:pPr lvl="0"/>
            <a:r>
              <a:rPr lang="zh-TW" altLang="en-US"/>
              <a:t>按一下以編輯母片文字樣式</a:t>
            </a:r>
          </a:p>
        </p:txBody>
      </p:sp>
      <p:sp>
        <p:nvSpPr>
          <p:cNvPr id="20" name="文字版面配置區 3"/>
          <p:cNvSpPr>
            <a:spLocks noGrp="1"/>
          </p:cNvSpPr>
          <p:nvPr>
            <p:ph type="body" sz="half" idx="10"/>
          </p:nvPr>
        </p:nvSpPr>
        <p:spPr>
          <a:xfrm>
            <a:off x="3786999" y="5584121"/>
            <a:ext cx="5122507" cy="414941"/>
          </a:xfrm>
          <a:prstGeom prst="rect">
            <a:avLst/>
          </a:prstGeom>
        </p:spPr>
        <p:txBody>
          <a:bodyPr anchor="ctr"/>
          <a:lstStyle>
            <a:lvl1pPr marL="0" indent="0" algn="ctr">
              <a:buNone/>
              <a:defRPr sz="1632" b="1">
                <a:latin typeface="微軟正黑體" panose="020B0604030504040204" pitchFamily="34" charset="-120"/>
                <a:ea typeface="微軟正黑體" panose="020B0604030504040204" pitchFamily="34" charset="-120"/>
              </a:defRPr>
            </a:lvl1pPr>
            <a:lvl2pPr marL="466481" indent="0">
              <a:buNone/>
              <a:defRPr sz="1224"/>
            </a:lvl2pPr>
            <a:lvl3pPr marL="932962" indent="0">
              <a:buNone/>
              <a:defRPr sz="1020"/>
            </a:lvl3pPr>
            <a:lvl4pPr marL="1399443" indent="0">
              <a:buNone/>
              <a:defRPr sz="918"/>
            </a:lvl4pPr>
            <a:lvl5pPr marL="1865925" indent="0">
              <a:buNone/>
              <a:defRPr sz="918"/>
            </a:lvl5pPr>
            <a:lvl6pPr marL="2332406" indent="0">
              <a:buNone/>
              <a:defRPr sz="918"/>
            </a:lvl6pPr>
            <a:lvl7pPr marL="2798887" indent="0">
              <a:buNone/>
              <a:defRPr sz="918"/>
            </a:lvl7pPr>
            <a:lvl8pPr marL="3265368" indent="0">
              <a:buNone/>
              <a:defRPr sz="918"/>
            </a:lvl8pPr>
            <a:lvl9pPr marL="3731849" indent="0">
              <a:buNone/>
              <a:defRPr sz="918"/>
            </a:lvl9pPr>
          </a:lstStyle>
          <a:p>
            <a:pPr lvl="0"/>
            <a:r>
              <a:rPr lang="zh-TW" altLang="en-US"/>
              <a:t>按一下以編輯母片文字樣式</a:t>
            </a:r>
          </a:p>
        </p:txBody>
      </p:sp>
      <p:sp>
        <p:nvSpPr>
          <p:cNvPr id="13" name="矩形 9">
            <a:extLst>
              <a:ext uri="{FF2B5EF4-FFF2-40B4-BE49-F238E27FC236}">
                <a16:creationId xmlns:a16="http://schemas.microsoft.com/office/drawing/2014/main" id="{6FDD3136-7EFB-4718-9F66-8669A6D38D54}"/>
              </a:ext>
            </a:extLst>
          </p:cNvPr>
          <p:cNvSpPr>
            <a:spLocks noChangeArrowheads="1"/>
          </p:cNvSpPr>
          <p:nvPr userDrawn="1"/>
        </p:nvSpPr>
        <p:spPr bwMode="auto">
          <a:xfrm>
            <a:off x="17280" y="6547456"/>
            <a:ext cx="531308" cy="228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20"/>
              </a:lnSpc>
              <a:defRPr/>
            </a:pPr>
            <a:fld id="{B24A712F-B284-4871-8CF9-DC6E056DBACF}" type="slidenum">
              <a:rPr lang="en-US" altLang="zh-TW" sz="1224" b="0" smtClean="0">
                <a:ea typeface="微軟正黑體" pitchFamily="34" charset="-120"/>
              </a:rPr>
              <a:pPr algn="ctr" eaLnBrk="1" hangingPunct="1">
                <a:lnSpc>
                  <a:spcPts val="1020"/>
                </a:lnSpc>
                <a:defRPr/>
              </a:pPr>
              <a:t>‹#›</a:t>
            </a:fld>
            <a:endParaRPr lang="en-US" altLang="zh-TW" sz="1224" b="0" dirty="0">
              <a:ea typeface="微軟正黑體" pitchFamily="34" charset="-120"/>
            </a:endParaRPr>
          </a:p>
        </p:txBody>
      </p:sp>
    </p:spTree>
    <p:extLst>
      <p:ext uri="{BB962C8B-B14F-4D97-AF65-F5344CB8AC3E}">
        <p14:creationId xmlns:p14="http://schemas.microsoft.com/office/powerpoint/2010/main" val="14088818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標題及物件">
  <p:cSld name="標題及物件">
    <p:spTree>
      <p:nvGrpSpPr>
        <p:cNvPr id="1" name="Shape 14"/>
        <p:cNvGrpSpPr/>
        <p:nvPr/>
      </p:nvGrpSpPr>
      <p:grpSpPr>
        <a:xfrm>
          <a:off x="0" y="0"/>
          <a:ext cx="0" cy="0"/>
          <a:chOff x="0" y="0"/>
          <a:chExt cx="0" cy="0"/>
        </a:xfrm>
      </p:grpSpPr>
      <p:sp>
        <p:nvSpPr>
          <p:cNvPr id="15" name="Google Shape;15;p13"/>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265"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 name="Google Shape;16;p13"/>
          <p:cNvSpPr txBox="1">
            <a:spLocks noGrp="1"/>
          </p:cNvSpPr>
          <p:nvPr>
            <p:ph type="body" idx="1"/>
          </p:nvPr>
        </p:nvSpPr>
        <p:spPr>
          <a:xfrm>
            <a:off x="406040" y="907057"/>
            <a:ext cx="11336724" cy="54747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49" b="0" i="0" u="none" strike="noStrike" cap="none">
                <a:solidFill>
                  <a:srgbClr val="000000"/>
                </a:solidFill>
                <a:latin typeface="Microsoft JhengHei"/>
                <a:ea typeface="Microsoft JhengHei"/>
                <a:cs typeface="Microsoft JhengHei"/>
                <a:sym typeface="Microsoft JhengHei"/>
              </a:defRPr>
            </a:lvl1pPr>
            <a:lvl2pPr marL="914400" marR="0" lvl="1" indent="-358204" algn="l" rtl="0">
              <a:lnSpc>
                <a:spcPct val="100000"/>
              </a:lnSpc>
              <a:spcBef>
                <a:spcPts val="612"/>
              </a:spcBef>
              <a:spcAft>
                <a:spcPts val="0"/>
              </a:spcAft>
              <a:buClr>
                <a:srgbClr val="000000"/>
              </a:buClr>
              <a:buSzPts val="2041"/>
              <a:buFont typeface="Noto Sans Symbols"/>
              <a:buChar char="■"/>
              <a:defRPr sz="2041" b="0" i="0" u="none" strike="noStrike" cap="none">
                <a:solidFill>
                  <a:srgbClr val="000000"/>
                </a:solidFill>
                <a:latin typeface="Microsoft JhengHei"/>
                <a:ea typeface="Microsoft JhengHei"/>
                <a:cs typeface="Microsoft JhengHei"/>
                <a:sym typeface="Microsoft JhengHei"/>
              </a:defRPr>
            </a:lvl2pPr>
            <a:lvl3pPr marL="1371600" marR="0" lvl="2" indent="-345249" algn="l" rtl="0">
              <a:lnSpc>
                <a:spcPct val="100000"/>
              </a:lnSpc>
              <a:spcBef>
                <a:spcPts val="612"/>
              </a:spcBef>
              <a:spcAft>
                <a:spcPts val="0"/>
              </a:spcAft>
              <a:buClr>
                <a:srgbClr val="000000"/>
              </a:buClr>
              <a:buSzPts val="1837"/>
              <a:buFont typeface="Noto Sans Symbols"/>
              <a:buChar char="●"/>
              <a:defRPr sz="1837" b="0" i="0" u="none" strike="noStrike" cap="none">
                <a:solidFill>
                  <a:srgbClr val="000000"/>
                </a:solidFill>
                <a:latin typeface="Microsoft JhengHei"/>
                <a:ea typeface="Microsoft JhengHei"/>
                <a:cs typeface="Microsoft JhengHei"/>
                <a:sym typeface="Microsoft JhengHei"/>
              </a:defRPr>
            </a:lvl3pPr>
            <a:lvl4pPr marL="1828800" marR="0" lvl="3" indent="-332232" algn="l" rtl="0">
              <a:lnSpc>
                <a:spcPct val="100000"/>
              </a:lnSpc>
              <a:spcBef>
                <a:spcPts val="612"/>
              </a:spcBef>
              <a:spcAft>
                <a:spcPts val="0"/>
              </a:spcAft>
              <a:buClr>
                <a:srgbClr val="000000"/>
              </a:buClr>
              <a:buSzPts val="1632"/>
              <a:buFont typeface="Noto Sans Symbols"/>
              <a:buChar char="◆"/>
              <a:defRPr sz="1632" b="0" i="0" u="none" strike="noStrike" cap="none">
                <a:solidFill>
                  <a:srgbClr val="000000"/>
                </a:solidFill>
                <a:latin typeface="Microsoft JhengHei"/>
                <a:ea typeface="Microsoft JhengHei"/>
                <a:cs typeface="Microsoft JhengHei"/>
                <a:sym typeface="Microsoft JhengHei"/>
              </a:defRPr>
            </a:lvl4pPr>
            <a:lvl5pPr marL="2286000" marR="0" lvl="4" indent="-319278" algn="l" rtl="0">
              <a:lnSpc>
                <a:spcPct val="100000"/>
              </a:lnSpc>
              <a:spcBef>
                <a:spcPts val="612"/>
              </a:spcBef>
              <a:spcAft>
                <a:spcPts val="0"/>
              </a:spcAft>
              <a:buClr>
                <a:srgbClr val="000000"/>
              </a:buClr>
              <a:buSzPts val="1428"/>
              <a:buFont typeface="Arial"/>
              <a:buChar char="•"/>
              <a:defRPr sz="1428" b="0" i="0" u="none" strike="noStrike" cap="none">
                <a:solidFill>
                  <a:srgbClr val="000000"/>
                </a:solidFill>
                <a:latin typeface="Microsoft JhengHei"/>
                <a:ea typeface="Microsoft JhengHei"/>
                <a:cs typeface="Microsoft JhengHei"/>
                <a:sym typeface="Microsoft JhengHei"/>
              </a:defRPr>
            </a:lvl5pPr>
            <a:lvl6pPr marL="2743200" marR="0" lvl="5" indent="-228600" algn="l" rtl="0">
              <a:lnSpc>
                <a:spcPct val="100000"/>
              </a:lnSpc>
              <a:spcBef>
                <a:spcPts val="612"/>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634994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標題投影片">
  <p:cSld name="標題投影片">
    <p:spTree>
      <p:nvGrpSpPr>
        <p:cNvPr id="1" name="Shape 17"/>
        <p:cNvGrpSpPr/>
        <p:nvPr/>
      </p:nvGrpSpPr>
      <p:grpSpPr>
        <a:xfrm>
          <a:off x="0" y="0"/>
          <a:ext cx="0" cy="0"/>
          <a:chOff x="0" y="0"/>
          <a:chExt cx="0" cy="0"/>
        </a:xfrm>
      </p:grpSpPr>
      <p:pic>
        <p:nvPicPr>
          <p:cNvPr id="18" name="Google Shape;18;p12" descr="一張含有 符號, 圖形, 標誌, 字型 的圖片&#10;&#10;AI 產生的內容可能不正確。"/>
          <p:cNvPicPr preferRelativeResize="0"/>
          <p:nvPr/>
        </p:nvPicPr>
        <p:blipFill rotWithShape="1">
          <a:blip r:embed="rId2">
            <a:alphaModFix/>
          </a:blip>
          <a:srcRect/>
          <a:stretch/>
        </p:blipFill>
        <p:spPr>
          <a:xfrm>
            <a:off x="478932" y="307942"/>
            <a:ext cx="2350833" cy="562759"/>
          </a:xfrm>
          <a:prstGeom prst="rect">
            <a:avLst/>
          </a:prstGeom>
          <a:noFill/>
          <a:ln>
            <a:noFill/>
          </a:ln>
        </p:spPr>
      </p:pic>
      <p:cxnSp>
        <p:nvCxnSpPr>
          <p:cNvPr id="19" name="Google Shape;19;p12"/>
          <p:cNvCxnSpPr/>
          <p:nvPr/>
        </p:nvCxnSpPr>
        <p:spPr>
          <a:xfrm>
            <a:off x="1133890" y="3030543"/>
            <a:ext cx="10030052" cy="0"/>
          </a:xfrm>
          <a:prstGeom prst="straightConnector1">
            <a:avLst/>
          </a:prstGeom>
          <a:noFill/>
          <a:ln w="15875" cap="flat" cmpd="sng">
            <a:solidFill>
              <a:srgbClr val="FF0000"/>
            </a:solidFill>
            <a:prstDash val="solid"/>
            <a:round/>
            <a:headEnd type="none" w="sm" len="sm"/>
            <a:tailEnd type="none" w="sm" len="sm"/>
          </a:ln>
        </p:spPr>
      </p:cxnSp>
      <p:sp>
        <p:nvSpPr>
          <p:cNvPr id="20" name="Google Shape;20;p12"/>
          <p:cNvSpPr txBox="1">
            <a:spLocks noGrp="1"/>
          </p:cNvSpPr>
          <p:nvPr>
            <p:ph type="title"/>
          </p:nvPr>
        </p:nvSpPr>
        <p:spPr>
          <a:xfrm>
            <a:off x="2122181" y="2304993"/>
            <a:ext cx="8159422" cy="71754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673"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 name="Google Shape;21;p12"/>
          <p:cNvSpPr txBox="1">
            <a:spLocks noGrp="1"/>
          </p:cNvSpPr>
          <p:nvPr>
            <p:ph type="body" idx="1"/>
          </p:nvPr>
        </p:nvSpPr>
        <p:spPr>
          <a:xfrm>
            <a:off x="3128389" y="4489744"/>
            <a:ext cx="6502357" cy="55928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2857"/>
              <a:buFont typeface="Arial"/>
              <a:buNone/>
              <a:defRPr sz="2857" b="1" i="0" u="none" strike="noStrike" cap="none">
                <a:solidFill>
                  <a:srgbClr val="000000"/>
                </a:solidFill>
                <a:latin typeface="Microsoft JhengHei"/>
                <a:ea typeface="Microsoft JhengHei"/>
                <a:cs typeface="Microsoft JhengHei"/>
                <a:sym typeface="Microsoft JhengHei"/>
              </a:defRPr>
            </a:lvl1pPr>
            <a:lvl2pPr marL="914400" marR="0" lvl="1" indent="-228600" algn="l" rtl="0">
              <a:lnSpc>
                <a:spcPct val="100000"/>
              </a:lnSpc>
              <a:spcBef>
                <a:spcPts val="0"/>
              </a:spcBef>
              <a:spcAft>
                <a:spcPts val="0"/>
              </a:spcAft>
              <a:buClr>
                <a:srgbClr val="000000"/>
              </a:buClr>
              <a:buSzPts val="1224"/>
              <a:buFont typeface="Arial"/>
              <a:buNone/>
              <a:defRPr sz="1224"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020"/>
              <a:buFont typeface="Arial"/>
              <a:buNone/>
              <a:defRPr sz="102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9pPr>
          </a:lstStyle>
          <a:p>
            <a:endParaRPr/>
          </a:p>
        </p:txBody>
      </p:sp>
      <p:sp>
        <p:nvSpPr>
          <p:cNvPr id="22" name="Google Shape;22;p12"/>
          <p:cNvSpPr txBox="1">
            <a:spLocks noGrp="1"/>
          </p:cNvSpPr>
          <p:nvPr>
            <p:ph type="body" idx="2"/>
          </p:nvPr>
        </p:nvSpPr>
        <p:spPr>
          <a:xfrm>
            <a:off x="3786999" y="5584121"/>
            <a:ext cx="5122507" cy="414941"/>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632"/>
              <a:buFont typeface="Arial"/>
              <a:buNone/>
              <a:defRPr sz="1632" b="1" i="0" u="none" strike="noStrike" cap="none">
                <a:solidFill>
                  <a:srgbClr val="000000"/>
                </a:solidFill>
                <a:latin typeface="Microsoft JhengHei"/>
                <a:ea typeface="Microsoft JhengHei"/>
                <a:cs typeface="Microsoft JhengHei"/>
                <a:sym typeface="Microsoft JhengHei"/>
              </a:defRPr>
            </a:lvl1pPr>
            <a:lvl2pPr marL="914400" marR="0" lvl="1" indent="-228600" algn="l" rtl="0">
              <a:lnSpc>
                <a:spcPct val="100000"/>
              </a:lnSpc>
              <a:spcBef>
                <a:spcPts val="0"/>
              </a:spcBef>
              <a:spcAft>
                <a:spcPts val="0"/>
              </a:spcAft>
              <a:buClr>
                <a:srgbClr val="000000"/>
              </a:buClr>
              <a:buSzPts val="1224"/>
              <a:buFont typeface="Arial"/>
              <a:buNone/>
              <a:defRPr sz="1224"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020"/>
              <a:buFont typeface="Arial"/>
              <a:buNone/>
              <a:defRPr sz="102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9pPr>
          </a:lstStyle>
          <a:p>
            <a:endParaRPr/>
          </a:p>
        </p:txBody>
      </p:sp>
      <p:sp>
        <p:nvSpPr>
          <p:cNvPr id="23" name="Google Shape;23;p12"/>
          <p:cNvSpPr/>
          <p:nvPr/>
        </p:nvSpPr>
        <p:spPr>
          <a:xfrm>
            <a:off x="17280" y="6547456"/>
            <a:ext cx="531308" cy="228128"/>
          </a:xfrm>
          <a:prstGeom prst="rect">
            <a:avLst/>
          </a:prstGeom>
          <a:noFill/>
          <a:ln>
            <a:noFill/>
          </a:ln>
        </p:spPr>
        <p:txBody>
          <a:bodyPr spcFirstLastPara="1" wrap="square" lIns="91425" tIns="45700" rIns="91425" bIns="45700" anchor="b" anchorCtr="0">
            <a:spAutoFit/>
          </a:bodyPr>
          <a:lstStyle/>
          <a:p>
            <a:pPr marL="0" marR="0" lvl="0" indent="0" algn="ctr" rtl="0">
              <a:lnSpc>
                <a:spcPct val="83333"/>
              </a:lnSpc>
              <a:spcBef>
                <a:spcPts val="0"/>
              </a:spcBef>
              <a:spcAft>
                <a:spcPts val="0"/>
              </a:spcAft>
              <a:buClr>
                <a:srgbClr val="000000"/>
              </a:buClr>
              <a:buSzPts val="1224"/>
              <a:buFont typeface="Arial"/>
              <a:buNone/>
            </a:pPr>
            <a:fld id="{00000000-1234-1234-1234-123412341234}" type="slidenum">
              <a:rPr lang="zh-TW" sz="1224" b="0" i="0" u="none" strike="noStrike" cap="none">
                <a:solidFill>
                  <a:schemeClr val="dk1"/>
                </a:solidFill>
                <a:latin typeface="Arial"/>
                <a:ea typeface="Arial"/>
                <a:cs typeface="Arial"/>
                <a:sym typeface="Arial"/>
              </a:rPr>
              <a:t>‹#›</a:t>
            </a:fld>
            <a:endParaRPr sz="1224"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684059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2.xml"/><Relationship Id="rId4" Type="http://schemas.openxmlformats.org/officeDocument/2006/relationships/image" Target="../media/image1.png"/><Relationship Id="rId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64849" y="6269412"/>
            <a:ext cx="4663140" cy="746746"/>
          </a:xfrm>
          <a:prstGeom prst="rect">
            <a:avLst/>
          </a:prstGeom>
          <a:noFill/>
          <a:ln>
            <a:noFill/>
          </a:ln>
        </p:spPr>
      </p:pic>
      <p:cxnSp>
        <p:nvCxnSpPr>
          <p:cNvPr id="11" name="Google Shape;11;p1"/>
          <p:cNvCxnSpPr/>
          <p:nvPr/>
        </p:nvCxnSpPr>
        <p:spPr>
          <a:xfrm>
            <a:off x="311010" y="808253"/>
            <a:ext cx="11477110" cy="0"/>
          </a:xfrm>
          <a:prstGeom prst="straightConnector1">
            <a:avLst/>
          </a:prstGeom>
          <a:noFill/>
          <a:ln w="15875" cap="flat" cmpd="sng">
            <a:solidFill>
              <a:srgbClr val="FF0000"/>
            </a:solidFill>
            <a:prstDash val="solid"/>
            <a:round/>
            <a:headEnd type="none" w="med" len="med"/>
            <a:tailEnd type="none" w="med" len="med"/>
          </a:ln>
        </p:spPr>
      </p:cxnSp>
      <p:sp>
        <p:nvSpPr>
          <p:cNvPr id="12" name="Google Shape;12;p1"/>
          <p:cNvSpPr/>
          <p:nvPr/>
        </p:nvSpPr>
        <p:spPr>
          <a:xfrm>
            <a:off x="17280" y="6558432"/>
            <a:ext cx="531308" cy="228128"/>
          </a:xfrm>
          <a:prstGeom prst="rect">
            <a:avLst/>
          </a:prstGeom>
          <a:noFill/>
          <a:ln>
            <a:noFill/>
          </a:ln>
        </p:spPr>
        <p:txBody>
          <a:bodyPr spcFirstLastPara="1" wrap="square" lIns="91425" tIns="45700" rIns="91425" bIns="45700" anchor="b" anchorCtr="0">
            <a:noAutofit/>
          </a:bodyPr>
          <a:lstStyle/>
          <a:p>
            <a:pPr marL="0" marR="0" lvl="0" indent="0" algn="ctr" rtl="0">
              <a:lnSpc>
                <a:spcPct val="83333"/>
              </a:lnSpc>
              <a:spcBef>
                <a:spcPts val="0"/>
              </a:spcBef>
              <a:spcAft>
                <a:spcPts val="0"/>
              </a:spcAft>
              <a:buNone/>
            </a:pPr>
            <a:fld id="{00000000-1234-1234-1234-123412341234}" type="slidenum">
              <a:rPr lang="zh-TW" sz="1224" b="0" i="0" u="none" strike="noStrike" cap="none">
                <a:solidFill>
                  <a:schemeClr val="dk1"/>
                </a:solidFill>
                <a:latin typeface="Arial"/>
                <a:ea typeface="Arial"/>
                <a:cs typeface="Arial"/>
                <a:sym typeface="Arial"/>
              </a:rPr>
              <a:t>‹#›</a:t>
            </a:fld>
            <a:endParaRPr sz="1224" b="0" i="0" u="none" strike="noStrike" cap="none">
              <a:solidFill>
                <a:schemeClr val="dk1"/>
              </a:solidFill>
              <a:latin typeface="Arial"/>
              <a:ea typeface="Arial"/>
              <a:cs typeface="Arial"/>
              <a:sym typeface="Arial"/>
            </a:endParaRPr>
          </a:p>
        </p:txBody>
      </p:sp>
      <p:pic>
        <p:nvPicPr>
          <p:cNvPr id="13" name="Google Shape;13;p1"/>
          <p:cNvPicPr preferRelativeResize="0"/>
          <p:nvPr/>
        </p:nvPicPr>
        <p:blipFill rotWithShape="1">
          <a:blip r:embed="rId4">
            <a:alphaModFix/>
          </a:blip>
          <a:srcRect/>
          <a:stretch/>
        </p:blipFill>
        <p:spPr>
          <a:xfrm>
            <a:off x="8890815" y="6477757"/>
            <a:ext cx="2886773" cy="297514"/>
          </a:xfrm>
          <a:prstGeom prst="rect">
            <a:avLst/>
          </a:prstGeom>
          <a:noFill/>
          <a:ln>
            <a:noFill/>
          </a:ln>
        </p:spPr>
      </p:pic>
    </p:spTree>
    <p:extLst>
      <p:ext uri="{BB962C8B-B14F-4D97-AF65-F5344CB8AC3E}">
        <p14:creationId xmlns:p14="http://schemas.microsoft.com/office/powerpoint/2010/main" val="1040504992"/>
      </p:ext>
    </p:extLst>
  </p:cSld>
  <p:clrMap bg1="lt1" tx1="dk1" bg2="dk2" tx2="lt2" accent1="accent1" accent2="accent2" accent3="accent3" accent4="accent4" accent5="accent5" accent6="accent6" hlink="hlink" folHlink="folHlink"/>
  <p:sldLayoutIdLst>
    <p:sldLayoutId id="214748367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1"/>
          <p:cNvPicPr preferRelativeResize="0"/>
          <p:nvPr/>
        </p:nvPicPr>
        <p:blipFill rotWithShape="1">
          <a:blip r:embed="rId4">
            <a:alphaModFix/>
          </a:blip>
          <a:srcRect/>
          <a:stretch/>
        </p:blipFill>
        <p:spPr>
          <a:xfrm>
            <a:off x="164849" y="6269412"/>
            <a:ext cx="4663140" cy="746746"/>
          </a:xfrm>
          <a:prstGeom prst="rect">
            <a:avLst/>
          </a:prstGeom>
          <a:noFill/>
          <a:ln>
            <a:noFill/>
          </a:ln>
        </p:spPr>
      </p:pic>
      <p:cxnSp>
        <p:nvCxnSpPr>
          <p:cNvPr id="11" name="Google Shape;11;p11"/>
          <p:cNvCxnSpPr/>
          <p:nvPr/>
        </p:nvCxnSpPr>
        <p:spPr>
          <a:xfrm>
            <a:off x="311010" y="808253"/>
            <a:ext cx="11477110" cy="0"/>
          </a:xfrm>
          <a:prstGeom prst="straightConnector1">
            <a:avLst/>
          </a:prstGeom>
          <a:noFill/>
          <a:ln w="15875" cap="flat" cmpd="sng">
            <a:solidFill>
              <a:srgbClr val="FF0000"/>
            </a:solidFill>
            <a:prstDash val="solid"/>
            <a:round/>
            <a:headEnd type="none" w="sm" len="sm"/>
            <a:tailEnd type="none" w="sm" len="sm"/>
          </a:ln>
        </p:spPr>
      </p:cxnSp>
      <p:sp>
        <p:nvSpPr>
          <p:cNvPr id="12" name="Google Shape;12;p11"/>
          <p:cNvSpPr/>
          <p:nvPr/>
        </p:nvSpPr>
        <p:spPr>
          <a:xfrm>
            <a:off x="17280" y="6558432"/>
            <a:ext cx="531308" cy="228128"/>
          </a:xfrm>
          <a:prstGeom prst="rect">
            <a:avLst/>
          </a:prstGeom>
          <a:noFill/>
          <a:ln>
            <a:noFill/>
          </a:ln>
        </p:spPr>
        <p:txBody>
          <a:bodyPr spcFirstLastPara="1" wrap="square" lIns="91425" tIns="45700" rIns="91425" bIns="45700" anchor="b" anchorCtr="0">
            <a:noAutofit/>
          </a:bodyPr>
          <a:lstStyle/>
          <a:p>
            <a:pPr marL="0" marR="0" lvl="0" indent="0" algn="ctr" rtl="0">
              <a:lnSpc>
                <a:spcPct val="83333"/>
              </a:lnSpc>
              <a:spcBef>
                <a:spcPts val="0"/>
              </a:spcBef>
              <a:spcAft>
                <a:spcPts val="0"/>
              </a:spcAft>
              <a:buClr>
                <a:srgbClr val="000000"/>
              </a:buClr>
              <a:buSzPts val="1224"/>
              <a:buFont typeface="Arial"/>
              <a:buNone/>
            </a:pPr>
            <a:fld id="{00000000-1234-1234-1234-123412341234}" type="slidenum">
              <a:rPr lang="zh-TW" sz="1224" b="0" i="0" u="none" strike="noStrike" cap="none">
                <a:solidFill>
                  <a:schemeClr val="dk1"/>
                </a:solidFill>
                <a:latin typeface="Arial"/>
                <a:ea typeface="Arial"/>
                <a:cs typeface="Arial"/>
                <a:sym typeface="Arial"/>
              </a:rPr>
              <a:t>‹#›</a:t>
            </a:fld>
            <a:endParaRPr sz="1224" b="0" i="0" u="none" strike="noStrike" cap="none">
              <a:solidFill>
                <a:schemeClr val="dk1"/>
              </a:solidFill>
              <a:latin typeface="Arial"/>
              <a:ea typeface="Arial"/>
              <a:cs typeface="Arial"/>
              <a:sym typeface="Arial"/>
            </a:endParaRPr>
          </a:p>
        </p:txBody>
      </p:sp>
      <p:pic>
        <p:nvPicPr>
          <p:cNvPr id="13" name="Google Shape;13;p11"/>
          <p:cNvPicPr preferRelativeResize="0"/>
          <p:nvPr/>
        </p:nvPicPr>
        <p:blipFill rotWithShape="1">
          <a:blip r:embed="rId5">
            <a:alphaModFix/>
          </a:blip>
          <a:srcRect/>
          <a:stretch/>
        </p:blipFill>
        <p:spPr>
          <a:xfrm>
            <a:off x="8890815" y="6477757"/>
            <a:ext cx="2886773" cy="297514"/>
          </a:xfrm>
          <a:prstGeom prst="rect">
            <a:avLst/>
          </a:prstGeom>
          <a:noFill/>
          <a:ln>
            <a:noFill/>
          </a:ln>
        </p:spPr>
      </p:pic>
    </p:spTree>
    <p:extLst>
      <p:ext uri="{BB962C8B-B14F-4D97-AF65-F5344CB8AC3E}">
        <p14:creationId xmlns:p14="http://schemas.microsoft.com/office/powerpoint/2010/main" val="1320124890"/>
      </p:ext>
    </p:extLst>
  </p:cSld>
  <p:clrMap bg1="lt1" tx1="dk1" bg2="dk2" tx2="lt2" accent1="accent1" accent2="accent2" accent3="accent3" accent4="accent4" accent5="accent5" accent6="accent6" hlink="hlink" folHlink="folHlink"/>
  <p:sldLayoutIdLst>
    <p:sldLayoutId id="2147483676" r:id="rId1"/>
    <p:sldLayoutId id="2147483677"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F81EE-681C-A219-6BBD-BB56E5AD94F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0E1690E-F553-7D05-B880-0F46C2604996}"/>
              </a:ext>
            </a:extLst>
          </p:cNvPr>
          <p:cNvSpPr>
            <a:spLocks noGrp="1"/>
          </p:cNvSpPr>
          <p:nvPr>
            <p:ph type="title"/>
          </p:nvPr>
        </p:nvSpPr>
        <p:spPr>
          <a:xfrm>
            <a:off x="2040841" y="2345393"/>
            <a:ext cx="8110319" cy="677053"/>
          </a:xfrm>
        </p:spPr>
        <p:txBody>
          <a:bodyPr/>
          <a:lstStyle/>
          <a:p>
            <a:pPr>
              <a:defRPr/>
            </a:pPr>
            <a:r>
              <a:rPr lang="zh-TW" altLang="en-US" sz="4000" b="1" dirty="0">
                <a:latin typeface="Microsoft JhengHei"/>
                <a:ea typeface="Microsoft JhengHei"/>
              </a:rPr>
              <a:t>智能專案經理 </a:t>
            </a:r>
            <a:r>
              <a:rPr lang="en-US" altLang="zh-TW" sz="4000" b="1" dirty="0">
                <a:latin typeface="Microsoft JhengHei"/>
                <a:ea typeface="Microsoft JhengHei"/>
              </a:rPr>
              <a:t>AIPM</a:t>
            </a:r>
            <a:endParaRPr lang="zh-TW" altLang="en-US" b="1" dirty="0"/>
          </a:p>
        </p:txBody>
      </p:sp>
      <p:sp>
        <p:nvSpPr>
          <p:cNvPr id="3" name="文字版面配置區 3">
            <a:extLst>
              <a:ext uri="{FF2B5EF4-FFF2-40B4-BE49-F238E27FC236}">
                <a16:creationId xmlns:a16="http://schemas.microsoft.com/office/drawing/2014/main" id="{F3948507-9718-A0E5-90E5-386583EB69A6}"/>
              </a:ext>
            </a:extLst>
          </p:cNvPr>
          <p:cNvSpPr txBox="1">
            <a:spLocks/>
          </p:cNvSpPr>
          <p:nvPr/>
        </p:nvSpPr>
        <p:spPr>
          <a:xfrm>
            <a:off x="3186717" y="4345571"/>
            <a:ext cx="5818567" cy="613915"/>
          </a:xfrm>
          <a:prstGeom prst="rect">
            <a:avLst/>
          </a:prstGeom>
        </p:spPr>
        <p:txBody>
          <a:bodyPr lIns="91440" tIns="45720" rIns="91440" bIns="45720" anchor="ctr" wrap="square"/>
          <a:lstStyle>
            <a:lvl1pPr marL="0" indent="0" algn="ctr" defTabSz="913526" rtl="0" eaLnBrk="0" fontAlgn="base" hangingPunct="0">
              <a:spcBef>
                <a:spcPct val="0"/>
              </a:spcBef>
              <a:spcAft>
                <a:spcPct val="0"/>
              </a:spcAft>
              <a:buSzPct val="120000"/>
              <a:buNone/>
              <a:defRPr sz="1632" b="1">
                <a:solidFill>
                  <a:schemeClr val="tx1"/>
                </a:solidFill>
                <a:latin typeface="微軟正黑體" panose="020B0604030504040204" pitchFamily="34" charset="-120"/>
                <a:ea typeface="微軟正黑體" panose="020B0604030504040204" pitchFamily="34" charset="-120"/>
                <a:cs typeface="+mn-cs"/>
              </a:defRPr>
            </a:lvl1pPr>
            <a:lvl2pPr marL="466481" indent="0" algn="l" defTabSz="913526" rtl="0" eaLnBrk="0" fontAlgn="base" hangingPunct="0">
              <a:spcBef>
                <a:spcPct val="0"/>
              </a:spcBef>
              <a:spcAft>
                <a:spcPct val="0"/>
              </a:spcAft>
              <a:buSzPct val="120000"/>
              <a:buNone/>
              <a:defRPr sz="1224">
                <a:solidFill>
                  <a:schemeClr val="tx1"/>
                </a:solidFill>
                <a:latin typeface="+mn-lt"/>
                <a:ea typeface="+mn-ea"/>
              </a:defRPr>
            </a:lvl2pPr>
            <a:lvl3pPr marL="932962" indent="0" algn="l" defTabSz="913526" rtl="0" eaLnBrk="0" fontAlgn="base" hangingPunct="0">
              <a:spcBef>
                <a:spcPct val="0"/>
              </a:spcBef>
              <a:spcAft>
                <a:spcPct val="0"/>
              </a:spcAft>
              <a:buNone/>
              <a:defRPr sz="1020">
                <a:solidFill>
                  <a:schemeClr val="tx1"/>
                </a:solidFill>
                <a:latin typeface="+mn-lt"/>
                <a:ea typeface="+mn-ea"/>
              </a:defRPr>
            </a:lvl3pPr>
            <a:lvl4pPr marL="1399443" indent="0" algn="l" defTabSz="913526" rtl="0" eaLnBrk="0" fontAlgn="base" hangingPunct="0">
              <a:spcBef>
                <a:spcPct val="0"/>
              </a:spcBef>
              <a:spcAft>
                <a:spcPct val="0"/>
              </a:spcAft>
              <a:buSzPct val="89000"/>
              <a:buNone/>
              <a:defRPr sz="918">
                <a:solidFill>
                  <a:schemeClr val="tx1"/>
                </a:solidFill>
                <a:latin typeface="+mn-lt"/>
                <a:ea typeface="+mn-ea"/>
              </a:defRPr>
            </a:lvl4pPr>
            <a:lvl5pPr marL="1865925" indent="0" algn="l" defTabSz="913526" rtl="0" eaLnBrk="0" fontAlgn="base" hangingPunct="0">
              <a:spcBef>
                <a:spcPct val="0"/>
              </a:spcBef>
              <a:spcAft>
                <a:spcPct val="0"/>
              </a:spcAft>
              <a:buSzPct val="75000"/>
              <a:buNone/>
              <a:defRPr sz="918">
                <a:solidFill>
                  <a:schemeClr val="tx1"/>
                </a:solidFill>
                <a:latin typeface="+mn-lt"/>
                <a:ea typeface="+mn-ea"/>
              </a:defRPr>
            </a:lvl5pPr>
            <a:lvl6pPr marL="2332406" indent="0" algn="l" defTabSz="913526" rtl="0" fontAlgn="base">
              <a:spcBef>
                <a:spcPct val="0"/>
              </a:spcBef>
              <a:spcAft>
                <a:spcPct val="0"/>
              </a:spcAft>
              <a:buSzPct val="75000"/>
              <a:buNone/>
              <a:defRPr sz="918">
                <a:solidFill>
                  <a:schemeClr val="tx1"/>
                </a:solidFill>
                <a:latin typeface="+mn-lt"/>
                <a:ea typeface="+mn-ea"/>
              </a:defRPr>
            </a:lvl6pPr>
            <a:lvl7pPr marL="2798887" indent="0" algn="l" defTabSz="913526" rtl="0" fontAlgn="base">
              <a:spcBef>
                <a:spcPct val="0"/>
              </a:spcBef>
              <a:spcAft>
                <a:spcPct val="0"/>
              </a:spcAft>
              <a:buSzPct val="75000"/>
              <a:buNone/>
              <a:defRPr sz="918">
                <a:solidFill>
                  <a:schemeClr val="tx1"/>
                </a:solidFill>
                <a:latin typeface="+mn-lt"/>
                <a:ea typeface="+mn-ea"/>
              </a:defRPr>
            </a:lvl7pPr>
            <a:lvl8pPr marL="3265368" indent="0" algn="l" defTabSz="913526" rtl="0" fontAlgn="base">
              <a:spcBef>
                <a:spcPct val="0"/>
              </a:spcBef>
              <a:spcAft>
                <a:spcPct val="0"/>
              </a:spcAft>
              <a:buSzPct val="75000"/>
              <a:buNone/>
              <a:defRPr sz="918">
                <a:solidFill>
                  <a:schemeClr val="tx1"/>
                </a:solidFill>
                <a:latin typeface="+mn-lt"/>
                <a:ea typeface="+mn-ea"/>
              </a:defRPr>
            </a:lvl8pPr>
            <a:lvl9pPr marL="3731849" indent="0" algn="l" defTabSz="913526" rtl="0" fontAlgn="base">
              <a:spcBef>
                <a:spcPct val="0"/>
              </a:spcBef>
              <a:spcAft>
                <a:spcPct val="0"/>
              </a:spcAft>
              <a:buSzPct val="75000"/>
              <a:buNone/>
              <a:defRPr sz="918">
                <a:solidFill>
                  <a:schemeClr val="tx1"/>
                </a:solidFill>
                <a:latin typeface="+mn-lt"/>
                <a:ea typeface="+mn-ea"/>
              </a:defRPr>
            </a:lvl9pPr>
          </a:lstStyle>
          <a:p>
            <a:pPr marL="0" marR="0" lvl="0" indent="0" defTabSz="913526" rtl="0" eaLnBrk="0" fontAlgn="base" latinLnBrk="0" hangingPunct="0">
              <a:lnSpc>
                <a:spcPct val="100000"/>
              </a:lnSpc>
              <a:spcBef>
                <a:spcPct val="0"/>
              </a:spcBef>
              <a:spcAft>
                <a:spcPct val="0"/>
              </a:spcAft>
              <a:buClrTx/>
              <a:buSzPct val="120000"/>
              <a:buFontTx/>
              <a:buNone/>
              <a:tabLst/>
              <a:defRPr/>
            </a:pPr>
            <a:r>
              <a:rPr sz="2000" b="0">
                <a:solidFill>
                  <a:srgbClr val="222A35"/>
                </a:solidFill>
                <a:latin typeface="Microsoft JhengHei"/>
                <a:ea typeface="Microsoft JhengHei"/>
                <a:cs typeface="Microsoft JhengHei"/>
              </a:rPr>
              <a:t>學員：曹家瑜、郭文浩、王瑀軒</a:t>
            </a:r>
          </a:p>
          <a:p>
            <a:r>
              <a:rPr sz="2000" b="0">
                <a:solidFill>
                  <a:srgbClr val="222A35"/>
                </a:solidFill>
                <a:latin typeface="Microsoft JhengHei"/>
                <a:ea typeface="Microsoft JhengHei"/>
                <a:cs typeface="Microsoft JhengHei"/>
              </a:rPr>
              <a:t>部門：數位經營部</a:t>
            </a:r>
          </a:p>
        </p:txBody>
      </p:sp>
    </p:spTree>
    <p:extLst>
      <p:ext uri="{BB962C8B-B14F-4D97-AF65-F5344CB8AC3E}">
        <p14:creationId xmlns:p14="http://schemas.microsoft.com/office/powerpoint/2010/main" val="15775183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提案動機與目的</a:t>
            </a:r>
            <a:endParaRPr/>
          </a:p>
        </p:txBody>
      </p:sp>
      <p:sp>
        <p:nvSpPr>
          <p:cNvPr id="37" name="Google Shape;37;p5"/>
          <p:cNvSpPr txBox="1"/>
          <p:nvPr/>
        </p:nvSpPr>
        <p:spPr>
          <a:xfrm>
            <a:off x="365895" y="955131"/>
            <a:ext cx="7693200" cy="3693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kumimoji="0" lang="zh-TW" altLang="en-US" sz="1800" b="1" i="0" u="none" strike="noStrike" kern="0" cap="none" spc="0" normalizeH="0" baseline="0" noProof="0" dirty="0">
                <a:ln>
                  <a:noFill/>
                </a:ln>
                <a:solidFill>
                  <a:srgbClr val="FF0000"/>
                </a:solidFill>
                <a:effectLst/>
                <a:uLnTx/>
                <a:uFillTx/>
                <a:latin typeface="Microsoft JhengHei"/>
                <a:ea typeface="Microsoft JhengHei"/>
                <a:cs typeface="Microsoft JhengHei"/>
                <a:sym typeface="Microsoft JhengHei"/>
              </a:rPr>
              <a:t>說明痛點及設計理念</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8" name="Google Shape;38;p5"/>
          <p:cNvSpPr txBox="1"/>
          <p:nvPr/>
        </p:nvSpPr>
        <p:spPr>
          <a:xfrm>
            <a:off x="359999" y="1493413"/>
            <a:ext cx="11342693" cy="4771919"/>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sz="1900" b="1">
                <a:solidFill>
                  <a:srgbClr val="222A35"/>
                </a:solidFill>
                <a:latin typeface="Microsoft JhengHei"/>
                <a:ea typeface="Microsoft JhengHei"/>
                <a:cs typeface="Microsoft JhengHei"/>
              </a:rPr>
              <a:t>專案經理每天要從會議、看板、訊息裡追「誰該做什麼、做到哪」，人工彙整耗時又容易漏。</a:t>
            </a:r>
            <a:endParaRPr kumimoji="0"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endParaRPr>
          </a:p>
          <a:p>
            <a:r>
              <a:rPr sz="1700" b="0">
                <a:solidFill>
                  <a:srgbClr val="222A35"/>
                </a:solidFill>
                <a:latin typeface="Microsoft JhengHei"/>
                <a:ea typeface="Microsoft JhengHei"/>
                <a:cs typeface="Microsoft JhengHei"/>
              </a:rPr>
              <a:t/>
            </a:r>
          </a:p>
          <a:p>
            <a:r>
              <a:rPr sz="1700" b="0">
                <a:solidFill>
                  <a:srgbClr val="222A35"/>
                </a:solidFill>
                <a:latin typeface="Microsoft JhengHei"/>
                <a:ea typeface="Microsoft JhengHei"/>
                <a:cs typeface="Microsoft JhengHei"/>
              </a:rPr>
              <a:t>• 會議結論散在逐字稿裡，會後整理待辦、派單要重看一遍，很花時間</a:t>
            </a:r>
          </a:p>
          <a:p>
            <a:r>
              <a:rPr sz="1700" b="0">
                <a:solidFill>
                  <a:srgbClr val="222A35"/>
                </a:solidFill>
                <a:latin typeface="Microsoft JhengHei"/>
                <a:ea typeface="Microsoft JhengHei"/>
                <a:cs typeface="Microsoft JhengHei"/>
              </a:rPr>
              <a:t>• 行動方案分散在 Teams／Planner／Jira，進度靠人工追、常常漏催</a:t>
            </a:r>
          </a:p>
          <a:p>
            <a:r>
              <a:rPr sz="1700" b="0">
                <a:solidFill>
                  <a:srgbClr val="222A35"/>
                </a:solidFill>
                <a:latin typeface="Microsoft JhengHei"/>
                <a:ea typeface="Microsoft JhengHei"/>
                <a:cs typeface="Microsoft JhengHei"/>
              </a:rPr>
              <a:t>• 催辦靠 PM 記憶與人情，標準不一，重要的事說忘就忘</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痛點對應解法與 Agent 目標使用者樣貌</a:t>
            </a:r>
            <a:endParaRPr/>
          </a:p>
        </p:txBody>
      </p:sp>
      <p:sp>
        <p:nvSpPr>
          <p:cNvPr id="45" name="Google Shape;45;p1"/>
          <p:cNvSpPr txBox="1"/>
          <p:nvPr/>
        </p:nvSpPr>
        <p:spPr>
          <a:xfrm>
            <a:off x="365895" y="955131"/>
            <a:ext cx="7693150"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kumimoji="0" lang="zh-TW" altLang="en-US" sz="1800" b="1" i="0" u="none" strike="noStrike" kern="0" cap="none" spc="0" normalizeH="0" baseline="0" noProof="0" dirty="0">
                <a:ln>
                  <a:noFill/>
                </a:ln>
                <a:solidFill>
                  <a:srgbClr val="FF0000"/>
                </a:solidFill>
                <a:effectLst/>
                <a:uLnTx/>
                <a:uFillTx/>
                <a:latin typeface="Microsoft JhengHei"/>
                <a:ea typeface="Microsoft JhengHei"/>
                <a:cs typeface="Microsoft JhengHei"/>
                <a:sym typeface="Microsoft JhengHei"/>
              </a:rPr>
              <a:t>對應痛點的核心解法，並且詳述 </a:t>
            </a:r>
            <a:r>
              <a:rPr kumimoji="0" lang="en-US" altLang="zh-TW" sz="1800" b="1" i="0" u="none" strike="noStrike" kern="0" cap="none" spc="0" normalizeH="0" baseline="0" noProof="0" dirty="0">
                <a:ln>
                  <a:noFill/>
                </a:ln>
                <a:solidFill>
                  <a:srgbClr val="FF0000"/>
                </a:solidFill>
                <a:effectLst/>
                <a:uLnTx/>
                <a:uFillTx/>
                <a:latin typeface="Microsoft JhengHei"/>
                <a:ea typeface="Microsoft JhengHei"/>
                <a:cs typeface="Microsoft JhengHei"/>
                <a:sym typeface="Microsoft JhengHei"/>
              </a:rPr>
              <a:t>Agent </a:t>
            </a:r>
            <a:r>
              <a:rPr kumimoji="0" lang="zh-TW" altLang="en-US" sz="1800" b="1" i="0" u="none" strike="noStrike" kern="0" cap="none" spc="0" normalizeH="0" baseline="0" noProof="0" dirty="0">
                <a:ln>
                  <a:noFill/>
                </a:ln>
                <a:solidFill>
                  <a:srgbClr val="FF0000"/>
                </a:solidFill>
                <a:effectLst/>
                <a:uLnTx/>
                <a:uFillTx/>
                <a:latin typeface="Microsoft JhengHei"/>
                <a:ea typeface="Microsoft JhengHei"/>
                <a:cs typeface="Microsoft JhengHei"/>
                <a:sym typeface="Microsoft JhengHei"/>
              </a:rPr>
              <a:t>應用的目標對象／客群</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46" name="Google Shape;46;p1"/>
          <p:cNvSpPr txBox="1"/>
          <p:nvPr/>
        </p:nvSpPr>
        <p:spPr>
          <a:xfrm>
            <a:off x="365895" y="1324463"/>
            <a:ext cx="11342693" cy="635226"/>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sz="1400" b="0">
                <a:solidFill>
                  <a:srgbClr val="222A35"/>
                </a:solidFill>
                <a:latin typeface="Microsoft JhengHei"/>
                <a:ea typeface="Microsoft JhengHei"/>
                <a:cs typeface="Microsoft JhengHei"/>
              </a:rPr>
              <a:t>核心解法：把「會議結論 → 待辦 → 派單 → 追蹤催辦」自動串成閉環，PM 只需按確認。</a:t>
            </a:r>
            <a:endParaRPr kumimoji="0" sz="1400" b="1" i="0" u="none" strike="noStrike" kern="0" cap="none" spc="0" normalizeH="0" baseline="0" noProof="0" dirty="0">
              <a:ln>
                <a:noFill/>
              </a:ln>
              <a:effectLst/>
              <a:uLnTx/>
              <a:uFillTx/>
              <a:latin typeface="Microsoft JhengHei"/>
              <a:ea typeface="Microsoft JhengHei"/>
              <a:cs typeface="Microsoft JhengHei"/>
              <a:sym typeface="Microsoft JhengHei"/>
            </a:endParaRPr>
          </a:p>
          <a:p>
            <a:r>
              <a:rPr sz="1400" b="0">
                <a:solidFill>
                  <a:srgbClr val="222A35"/>
                </a:solidFill>
                <a:latin typeface="Microsoft JhengHei"/>
                <a:ea typeface="Microsoft JhengHei"/>
                <a:cs typeface="Microsoft JhengHei"/>
              </a:rPr>
              <a:t>目標對象：專案經理與跨部門專案成員；公司內約 5 位同性質 PM 可直接沿用同一個 Agent。</a:t>
            </a:r>
          </a:p>
        </p:txBody>
      </p:sp>
      <p:sp>
        <p:nvSpPr>
          <p:cNvPr id="47" name="Google Shape;47;p1"/>
          <p:cNvSpPr/>
          <p:nvPr/>
        </p:nvSpPr>
        <p:spPr>
          <a:xfrm>
            <a:off x="4631877" y="2297591"/>
            <a:ext cx="2928245" cy="3810000"/>
          </a:xfrm>
          <a:prstGeom prst="rect">
            <a:avLst/>
          </a:prstGeom>
          <a:no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48" name="Google Shape;48;p1"/>
          <p:cNvSpPr txBox="1"/>
          <p:nvPr/>
        </p:nvSpPr>
        <p:spPr>
          <a:xfrm>
            <a:off x="4631877" y="2297591"/>
            <a:ext cx="2928245" cy="375937"/>
          </a:xfrm>
          <a:prstGeom prst="rect">
            <a:avLst/>
          </a:prstGeom>
          <a:solidFill>
            <a:srgbClr val="FFC00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zh-TW" altLang="en-US"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處理</a:t>
            </a:r>
            <a:endParaRPr kumimoji="0"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endParaRPr>
          </a:p>
        </p:txBody>
      </p:sp>
      <p:sp>
        <p:nvSpPr>
          <p:cNvPr id="49" name="Google Shape;49;p1"/>
          <p:cNvSpPr txBox="1"/>
          <p:nvPr/>
        </p:nvSpPr>
        <p:spPr>
          <a:xfrm>
            <a:off x="4631877" y="2835906"/>
            <a:ext cx="2928245" cy="69910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sz="1300" b="0">
                <a:solidFill>
                  <a:srgbClr val="222A35"/>
                </a:solidFill>
                <a:latin typeface="Microsoft JhengHei"/>
                <a:ea typeface="Microsoft JhengHei"/>
                <a:cs typeface="Microsoft JhengHei"/>
              </a:rPr>
              <a:t>Copilot 抽取結論與待辦</a:t>
            </a:r>
            <a:endParaRPr kumimoji="0" sz="1400" b="0" i="0" u="none" strike="noStrike" kern="0" cap="none" spc="0" normalizeH="0" baseline="0" noProof="0">
              <a:ln>
                <a:noFill/>
              </a:ln>
              <a:solidFill>
                <a:srgbClr val="000000"/>
              </a:solidFill>
              <a:effectLst/>
              <a:uLnTx/>
              <a:uFillTx/>
              <a:latin typeface="Arial"/>
              <a:cs typeface="Arial"/>
              <a:sym typeface="Arial"/>
            </a:endParaRPr>
          </a:p>
          <a:p>
            <a:r>
              <a:rPr sz="1300" b="0">
                <a:solidFill>
                  <a:srgbClr val="222A35"/>
                </a:solidFill>
                <a:latin typeface="Microsoft JhengHei"/>
                <a:ea typeface="Microsoft JhengHei"/>
                <a:cs typeface="Microsoft JhengHei"/>
              </a:rPr>
              <a:t>辨識負責人與期限</a:t>
            </a:r>
          </a:p>
          <a:p>
            <a:r>
              <a:rPr sz="1300" b="0">
                <a:solidFill>
                  <a:srgbClr val="222A35"/>
                </a:solidFill>
                <a:latin typeface="Microsoft JhengHei"/>
                <a:ea typeface="Microsoft JhengHei"/>
                <a:cs typeface="Microsoft JhengHei"/>
              </a:rPr>
              <a:t>比對逾期任務、生成催辦草稿</a:t>
            </a:r>
          </a:p>
        </p:txBody>
      </p:sp>
      <p:sp>
        <p:nvSpPr>
          <p:cNvPr id="50" name="Google Shape;50;p1"/>
          <p:cNvSpPr/>
          <p:nvPr/>
        </p:nvSpPr>
        <p:spPr>
          <a:xfrm>
            <a:off x="8059045" y="2297591"/>
            <a:ext cx="2928245" cy="3810000"/>
          </a:xfrm>
          <a:prstGeom prst="rect">
            <a:avLst/>
          </a:prstGeom>
          <a:no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51" name="Google Shape;51;p1"/>
          <p:cNvSpPr txBox="1"/>
          <p:nvPr/>
        </p:nvSpPr>
        <p:spPr>
          <a:xfrm>
            <a:off x="8059045" y="2297591"/>
            <a:ext cx="2928245" cy="375937"/>
          </a:xfrm>
          <a:prstGeom prst="rect">
            <a:avLst/>
          </a:prstGeom>
          <a:solidFill>
            <a:srgbClr val="00B05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zh-TW" altLang="en-US"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輸出</a:t>
            </a:r>
            <a:endParaRPr kumimoji="0"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endParaRPr>
          </a:p>
        </p:txBody>
      </p:sp>
      <p:sp>
        <p:nvSpPr>
          <p:cNvPr id="52" name="Google Shape;52;p1"/>
          <p:cNvSpPr txBox="1"/>
          <p:nvPr/>
        </p:nvSpPr>
        <p:spPr>
          <a:xfrm>
            <a:off x="8059045" y="2835906"/>
            <a:ext cx="2928245" cy="69910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sz="1300" b="0">
                <a:solidFill>
                  <a:srgbClr val="222A35"/>
                </a:solidFill>
                <a:latin typeface="Microsoft JhengHei"/>
                <a:ea typeface="Microsoft JhengHei"/>
                <a:cs typeface="Microsoft JhengHei"/>
              </a:rPr>
              <a:t>結構化會議結論＋待辦清單</a:t>
            </a:r>
            <a:endParaRPr kumimoji="0" sz="1400" b="0" i="0" u="none" strike="noStrike" kern="0" cap="none" spc="0" normalizeH="0" baseline="0" noProof="0">
              <a:ln>
                <a:noFill/>
              </a:ln>
              <a:solidFill>
                <a:srgbClr val="000000"/>
              </a:solidFill>
              <a:effectLst/>
              <a:uLnTx/>
              <a:uFillTx/>
              <a:latin typeface="Arial"/>
              <a:cs typeface="Arial"/>
              <a:sym typeface="Arial"/>
            </a:endParaRPr>
          </a:p>
          <a:p>
            <a:r>
              <a:rPr sz="1300" b="0">
                <a:solidFill>
                  <a:srgbClr val="222A35"/>
                </a:solidFill>
                <a:latin typeface="Microsoft JhengHei"/>
                <a:ea typeface="Microsoft JhengHei"/>
                <a:cs typeface="Microsoft JhengHei"/>
              </a:rPr>
              <a:t>（含負責人／期限／需確認標記）</a:t>
            </a:r>
          </a:p>
          <a:p>
            <a:r>
              <a:rPr sz="1300" b="0">
                <a:solidFill>
                  <a:srgbClr val="222A35"/>
                </a:solidFill>
                <a:latin typeface="Microsoft JhengHei"/>
                <a:ea typeface="Microsoft JhengHei"/>
                <a:cs typeface="Microsoft JhengHei"/>
              </a:rPr>
              <a:t>一鍵開單、委婉催辦草稿</a:t>
            </a:r>
          </a:p>
        </p:txBody>
      </p:sp>
      <p:sp>
        <p:nvSpPr>
          <p:cNvPr id="53" name="Google Shape;53;p1"/>
          <p:cNvSpPr/>
          <p:nvPr/>
        </p:nvSpPr>
        <p:spPr>
          <a:xfrm>
            <a:off x="1204709" y="2297591"/>
            <a:ext cx="2928245" cy="3810000"/>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54" name="Google Shape;54;p1"/>
          <p:cNvSpPr txBox="1"/>
          <p:nvPr/>
        </p:nvSpPr>
        <p:spPr>
          <a:xfrm>
            <a:off x="1204709" y="2297591"/>
            <a:ext cx="2928245" cy="375937"/>
          </a:xfrm>
          <a:prstGeom prst="rect">
            <a:avLst/>
          </a:prstGeom>
          <a:solidFill>
            <a:srgbClr val="FF000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zh-TW" altLang="en-US"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輸入</a:t>
            </a:r>
            <a:endParaRPr kumimoji="0"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endParaRPr>
          </a:p>
        </p:txBody>
      </p:sp>
      <p:sp>
        <p:nvSpPr>
          <p:cNvPr id="55" name="Google Shape;55;p1"/>
          <p:cNvSpPr txBox="1"/>
          <p:nvPr/>
        </p:nvSpPr>
        <p:spPr>
          <a:xfrm>
            <a:off x="1204709" y="2835906"/>
            <a:ext cx="2928245" cy="69910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sz="1300" b="0">
                <a:solidFill>
                  <a:srgbClr val="222A35"/>
                </a:solidFill>
                <a:latin typeface="Microsoft JhengHei"/>
                <a:ea typeface="Microsoft JhengHei"/>
                <a:cs typeface="Microsoft JhengHei"/>
              </a:rPr>
              <a:t>會議逐字稿／Teams 會議記錄</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r>
              <a:rPr sz="1300" b="0">
                <a:solidFill>
                  <a:srgbClr val="222A35"/>
                </a:solidFill>
                <a:latin typeface="Microsoft JhengHei"/>
                <a:ea typeface="Microsoft JhengHei"/>
                <a:cs typeface="Microsoft JhengHei"/>
              </a:rPr>
              <a:t>Planner／Jira 任務看板</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7"/>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流程簡述</a:t>
            </a:r>
            <a:endParaRPr/>
          </a:p>
        </p:txBody>
      </p:sp>
      <p:sp>
        <p:nvSpPr>
          <p:cNvPr id="70" name="Google Shape;70;p7"/>
          <p:cNvSpPr txBox="1"/>
          <p:nvPr/>
        </p:nvSpPr>
        <p:spPr>
          <a:xfrm>
            <a:off x="365895" y="955131"/>
            <a:ext cx="7693150"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kumimoji="0" lang="en-US" altLang="zh-TW"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AI Agent </a:t>
            </a:r>
            <a:r>
              <a:rPr kumimoji="0" lang="zh-TW" altLang="en-US"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的整體架構，用文字詳述</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71" name="TextBox 70"/>
          <p:cNvSpPr txBox="1"/>
          <p:nvPr/>
        </p:nvSpPr>
        <p:spPr>
          <a:xfrm>
            <a:off x="360000" y="1440000"/>
            <a:ext cx="11340000" cy="4500000"/>
          </a:xfrm>
          <a:prstGeom prst="rect">
            <a:avLst/>
          </a:prstGeom>
          <a:noFill/>
        </p:spPr>
        <p:txBody>
          <a:bodyPr wrap="square">
            <a:spAutoFit/>
          </a:bodyPr>
          <a:lstStyle/>
          <a:p>
            <a:r>
              <a:rPr sz="1600" b="0">
                <a:solidFill>
                  <a:srgbClr val="222A35"/>
                </a:solidFill>
                <a:latin typeface="Microsoft JhengHei"/>
                <a:ea typeface="Microsoft JhengHei"/>
                <a:cs typeface="Microsoft JhengHei"/>
              </a:rPr>
              <a:t>AIPM 建在 Copilot Studio（租戶內 LLM），透過 Power Automate 串接 Planner／Teams，分三段運作：</a:t>
            </a:r>
          </a:p>
          <a:p>
            <a:r>
              <a:rPr sz="1600" b="0">
                <a:solidFill>
                  <a:srgbClr val="222A35"/>
                </a:solidFill>
                <a:latin typeface="Microsoft JhengHei"/>
                <a:ea typeface="Microsoft JhengHei"/>
                <a:cs typeface="Microsoft JhengHei"/>
              </a:rPr>
              <a:t/>
            </a:r>
          </a:p>
          <a:p>
            <a:r>
              <a:rPr sz="1600" b="0">
                <a:solidFill>
                  <a:srgbClr val="222A35"/>
                </a:solidFill>
                <a:latin typeface="Microsoft JhengHei"/>
                <a:ea typeface="Microsoft JhengHei"/>
                <a:cs typeface="Microsoft JhengHei"/>
              </a:rPr>
              <a:t>一、理解：PM 貼上會議逐字稿，LLM 抽出結論與待辦，並辨識每筆的負責人與期限。</a:t>
            </a:r>
          </a:p>
          <a:p>
            <a:r>
              <a:rPr sz="1600" b="0">
                <a:solidFill>
                  <a:srgbClr val="222A35"/>
                </a:solidFill>
                <a:latin typeface="Microsoft JhengHei"/>
                <a:ea typeface="Microsoft JhengHei"/>
                <a:cs typeface="Microsoft JhengHei"/>
              </a:rPr>
              <a:t>二、確認：把待辦列給 PM，負責人或期限不明確者標「需確認」，PM 點頭後才動作（人在迴路）。</a:t>
            </a:r>
          </a:p>
          <a:p>
            <a:r>
              <a:rPr sz="1600" b="0">
                <a:solidFill>
                  <a:srgbClr val="222A35"/>
                </a:solidFill>
                <a:latin typeface="Microsoft JhengHei"/>
                <a:ea typeface="Microsoft JhengHei"/>
                <a:cs typeface="Microsoft JhengHei"/>
              </a:rPr>
              <a:t>三、執行：一鍵在 Planner 開單；對逾期任務生成語氣委婉的催辦草稿，PM 確認後由 Teams 發送。</a:t>
            </a:r>
          </a:p>
          <a:p>
            <a:r>
              <a:rPr sz="1600" b="0">
                <a:solidFill>
                  <a:srgbClr val="222A35"/>
                </a:solidFill>
                <a:latin typeface="Microsoft JhengHei"/>
                <a:ea typeface="Microsoft JhengHei"/>
                <a:cs typeface="Microsoft JhengHei"/>
              </a:rPr>
              <a:t/>
            </a:r>
          </a:p>
          <a:p>
            <a:r>
              <a:rPr sz="1600" b="0">
                <a:solidFill>
                  <a:srgbClr val="222A35"/>
                </a:solidFill>
                <a:latin typeface="Microsoft JhengHei"/>
                <a:ea typeface="Microsoft JhengHei"/>
                <a:cs typeface="Microsoft JhengHei"/>
              </a:rPr>
              <a:t>安全設計：LLM 只在入口（理解）與出口（摘要），不自動直發、不亂指派，全程寫稽核 Log。</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8"/>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流程示意圖</a:t>
            </a:r>
            <a:endParaRPr/>
          </a:p>
        </p:txBody>
      </p:sp>
      <p:pic>
        <p:nvPicPr>
          <p:cNvPr id="77" name="Picture 76" descr="AIPM_agent_flow.png"/>
          <p:cNvPicPr>
            <a:picLocks noChangeAspect="1"/>
          </p:cNvPicPr>
          <p:nvPr/>
        </p:nvPicPr>
        <p:blipFill>
          <a:blip r:embed="rId3"/>
          <a:stretch>
            <a:fillRect/>
          </a:stretch>
        </p:blipFill>
        <p:spPr>
          <a:xfrm>
            <a:off x="702000" y="1044000"/>
            <a:ext cx="10800000" cy="5512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g3e9888fc26a_0_5"/>
          <p:cNvSpPr txBox="1">
            <a:spLocks noGrp="1"/>
          </p:cNvSpPr>
          <p:nvPr>
            <p:ph type="title"/>
          </p:nvPr>
        </p:nvSpPr>
        <p:spPr>
          <a:xfrm>
            <a:off x="365895" y="150922"/>
            <a:ext cx="11342700" cy="63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預期效益</a:t>
            </a:r>
            <a:endParaRPr/>
          </a:p>
        </p:txBody>
      </p:sp>
      <p:sp>
        <p:nvSpPr>
          <p:cNvPr id="85" name="Google Shape;85;g3e9888fc26a_0_5"/>
          <p:cNvSpPr txBox="1"/>
          <p:nvPr/>
        </p:nvSpPr>
        <p:spPr>
          <a:xfrm>
            <a:off x="365895" y="955131"/>
            <a:ext cx="7693200" cy="3078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sz="1600" b="1">
                <a:solidFill>
                  <a:srgbClr val="222A35"/>
                </a:solidFill>
                <a:latin typeface="Microsoft JhengHei"/>
                <a:ea typeface="Microsoft JhengHei"/>
                <a:cs typeface="Microsoft JhengHei"/>
              </a:rPr>
              <a:t>量化與質化效益（量化為範例值，請替換為實際數字）</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6" name="Google Shape;86;g3e9888fc26a_0_5"/>
          <p:cNvSpPr txBox="1"/>
          <p:nvPr/>
        </p:nvSpPr>
        <p:spPr>
          <a:xfrm>
            <a:off x="1055850" y="3423025"/>
            <a:ext cx="10080300" cy="2476200"/>
          </a:xfrm>
          <a:prstGeom prst="rect">
            <a:avLst/>
          </a:prstGeom>
          <a:noFill/>
          <a:ln>
            <a:noFill/>
          </a:ln>
        </p:spPr>
        <p:txBody>
          <a:bodyPr spcFirstLastPara="1" wrap="square" lIns="360000" tIns="180000" rIns="360000" bIns="45700" anchor="t" anchorCtr="0">
            <a:noAutofit/>
          </a:bodyPr>
          <a:lstStyle/>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sz="1400" b="1">
                <a:solidFill>
                  <a:srgbClr val="222A35"/>
                </a:solidFill>
                <a:latin typeface="Microsoft JhengHei"/>
                <a:ea typeface="Microsoft JhengHei"/>
                <a:cs typeface="Microsoft JhengHei"/>
              </a:rPr>
              <a:t>［質化效益］</a:t>
            </a:r>
            <a:endParaRPr kumimoji="0" sz="14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endParaRPr>
          </a:p>
          <a:p>
            <a:r>
              <a:rPr sz="1400" b="0">
                <a:solidFill>
                  <a:srgbClr val="222A35"/>
                </a:solidFill>
                <a:latin typeface="Microsoft JhengHei"/>
                <a:ea typeface="Microsoft JhengHei"/>
                <a:cs typeface="Microsoft JhengHei"/>
              </a:rPr>
              <a:t>• 品質控管：漏派、漏催變少，重要待辦不掉</a:t>
            </a:r>
          </a:p>
          <a:p>
            <a:r>
              <a:rPr sz="1400" b="0">
                <a:solidFill>
                  <a:srgbClr val="222A35"/>
                </a:solidFill>
                <a:latin typeface="Microsoft JhengHei"/>
                <a:ea typeface="Microsoft JhengHei"/>
                <a:cs typeface="Microsoft JhengHei"/>
              </a:rPr>
              <a:t>• 法遵／稽核：決策與派單全程留痕，稽核可回溯</a:t>
            </a:r>
          </a:p>
          <a:p>
            <a:r>
              <a:rPr sz="1400" b="0">
                <a:solidFill>
                  <a:srgbClr val="222A35"/>
                </a:solidFill>
                <a:latin typeface="Microsoft JhengHei"/>
                <a:ea typeface="Microsoft JhengHei"/>
                <a:cs typeface="Microsoft JhengHei"/>
              </a:rPr>
              <a:t>• 可規模化：5 位同性質 PM 可沿用；未來可擴為五大 Agent（數據／KPI／提案／時程／會議）</a:t>
            </a:r>
          </a:p>
          <a:p>
            <a:r>
              <a:rPr sz="1400" b="0">
                <a:solidFill>
                  <a:srgbClr val="222A35"/>
                </a:solidFill>
                <a:latin typeface="Microsoft JhengHei"/>
                <a:ea typeface="Microsoft JhengHei"/>
                <a:cs typeface="Microsoft JhengHei"/>
              </a:rPr>
              <a:t>• 風險預防：關鍵事項不漏辦，降低因疏失造成的損失</a:t>
            </a:r>
          </a:p>
        </p:txBody>
      </p:sp>
      <p:graphicFrame>
        <p:nvGraphicFramePr>
          <p:cNvPr id="87" name="Google Shape;87;g3e9888fc26a_0_5"/>
          <p:cNvGraphicFramePr/>
          <p:nvPr/>
        </p:nvGraphicFramePr>
        <p:xfrm>
          <a:off x="1178806" y="1852648"/>
          <a:ext cx="9107250" cy="1112550"/>
        </p:xfrm>
        <a:graphic>
          <a:graphicData uri="http://schemas.openxmlformats.org/drawingml/2006/table">
            <a:tbl>
              <a:tblPr firstRow="1" bandRow="1">
                <a:noFill/>
              </a:tblPr>
              <a:tblGrid>
                <a:gridCol w="1821450">
                  <a:extLst>
                    <a:ext uri="{9D8B030D-6E8A-4147-A177-3AD203B41FA5}">
                      <a16:colId xmlns:a16="http://schemas.microsoft.com/office/drawing/2014/main" val="20000"/>
                    </a:ext>
                  </a:extLst>
                </a:gridCol>
                <a:gridCol w="2093600">
                  <a:extLst>
                    <a:ext uri="{9D8B030D-6E8A-4147-A177-3AD203B41FA5}">
                      <a16:colId xmlns:a16="http://schemas.microsoft.com/office/drawing/2014/main" val="20001"/>
                    </a:ext>
                  </a:extLst>
                </a:gridCol>
                <a:gridCol w="1549300">
                  <a:extLst>
                    <a:ext uri="{9D8B030D-6E8A-4147-A177-3AD203B41FA5}">
                      <a16:colId xmlns:a16="http://schemas.microsoft.com/office/drawing/2014/main" val="20002"/>
                    </a:ext>
                  </a:extLst>
                </a:gridCol>
                <a:gridCol w="1821450">
                  <a:extLst>
                    <a:ext uri="{9D8B030D-6E8A-4147-A177-3AD203B41FA5}">
                      <a16:colId xmlns:a16="http://schemas.microsoft.com/office/drawing/2014/main" val="20003"/>
                    </a:ext>
                  </a:extLst>
                </a:gridCol>
                <a:gridCol w="1821450">
                  <a:extLst>
                    <a:ext uri="{9D8B030D-6E8A-4147-A177-3AD203B41FA5}">
                      <a16:colId xmlns:a16="http://schemas.microsoft.com/office/drawing/2014/main" val="20004"/>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latin typeface="Microsoft JhengHei"/>
                          <a:ea typeface="Microsoft JhengHei"/>
                          <a:cs typeface="Microsoft JhengHei"/>
                          <a:sym typeface="Microsoft JhengHei"/>
                        </a:rPr>
                        <a:t>[量化效益]</a:t>
                      </a:r>
                      <a:endParaRPr sz="1400" u="none" strike="noStrike" cap="none">
                        <a:latin typeface="Microsoft JhengHei"/>
                        <a:ea typeface="Microsoft JhengHei"/>
                        <a:cs typeface="Microsoft JhengHei"/>
                        <a:sym typeface="Microsoft JhengHei"/>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latin typeface="Microsoft JhengHei"/>
                          <a:ea typeface="Microsoft JhengHei"/>
                          <a:cs typeface="Microsoft JhengHei"/>
                          <a:sym typeface="Microsoft JhengHei"/>
                        </a:rPr>
                        <a:t>頻率（一年處理幾次）</a:t>
                      </a:r>
                      <a:endParaRPr sz="1400" u="none" strike="noStrike" cap="none">
                        <a:latin typeface="Microsoft JhengHei"/>
                        <a:ea typeface="Microsoft JhengHei"/>
                        <a:cs typeface="Microsoft JhengHei"/>
                        <a:sym typeface="Microsoft JhengHei"/>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latin typeface="Microsoft JhengHei"/>
                          <a:ea typeface="Microsoft JhengHei"/>
                          <a:cs typeface="Microsoft JhengHei"/>
                          <a:sym typeface="Microsoft JhengHei"/>
                        </a:rPr>
                        <a:t>資料筆數</a:t>
                      </a:r>
                      <a:endParaRPr sz="1400" u="none" strike="noStrike" cap="none">
                        <a:latin typeface="Microsoft JhengHei"/>
                        <a:ea typeface="Microsoft JhengHei"/>
                        <a:cs typeface="Microsoft JhengHei"/>
                        <a:sym typeface="Microsoft JhengHei"/>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latin typeface="Microsoft JhengHei"/>
                          <a:ea typeface="Microsoft JhengHei"/>
                          <a:cs typeface="Microsoft JhengHei"/>
                          <a:sym typeface="Microsoft JhengHei"/>
                        </a:rPr>
                        <a:t>時間 (分鐘/單筆)</a:t>
                      </a:r>
                      <a:endParaRPr sz="1400" u="none" strike="noStrike" cap="none">
                        <a:latin typeface="Microsoft JhengHei"/>
                        <a:ea typeface="Microsoft JhengHei"/>
                        <a:cs typeface="Microsoft JhengHei"/>
                        <a:sym typeface="Microsoft JhengHei"/>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zh-TW">
                          <a:latin typeface="Microsoft JhengHei"/>
                          <a:ea typeface="Microsoft JhengHei"/>
                          <a:cs typeface="Microsoft JhengHei"/>
                          <a:sym typeface="Microsoft JhengHei"/>
                        </a:rPr>
                        <a:t>其他補充</a:t>
                      </a:r>
                      <a:endParaRPr>
                        <a:latin typeface="Microsoft JhengHei"/>
                        <a:ea typeface="Microsoft JhengHei"/>
                        <a:cs typeface="Microsoft JhengHei"/>
                        <a:sym typeface="Microsoft JhengHei"/>
                      </a:endParaRPr>
                    </a:p>
                  </a:txBody>
                  <a:tcPr marL="91450" marR="91450" marT="45725" marB="45725" anchor="ctr"/>
                </a:tc>
                <a:extLst>
                  <a:ext uri="{0D108BD9-81ED-4DB2-BD59-A6C34878D82A}">
                    <a16:rowId xmlns:a16="http://schemas.microsoft.com/office/drawing/2014/main" val="10000"/>
                  </a:ext>
                </a:extLst>
              </a:tr>
              <a:tr h="370850">
                <a:tc>
                  <a:txBody>
                    <a:bodyPr/>
                    <a:lstStyle/>
                    <a:p>
                      <a:r>
                        <a:rPr sz="1200" b="1">
                          <a:solidFill>
                            <a:srgbClr val="222A35"/>
                          </a:solidFill>
                          <a:latin typeface="Microsoft JhengHei"/>
                          <a:ea typeface="Microsoft JhengHei"/>
                          <a:cs typeface="Microsoft JhengHei"/>
                        </a:rPr>
                        <a:t>原本</a:t>
                      </a:r>
                    </a:p>
                  </a:txBody>
                  <a:tcPr marL="91450" marR="91450" marT="45725" marB="45725" anchor="ctr"/>
                </a:tc>
                <a:tc>
                  <a:txBody>
                    <a:bodyPr/>
                    <a:lstStyle/>
                    <a:p>
                      <a:r>
                        <a:rPr sz="1200" b="0">
                          <a:solidFill>
                            <a:srgbClr val="222A35"/>
                          </a:solidFill>
                          <a:latin typeface="Microsoft JhengHei"/>
                          <a:ea typeface="Microsoft JhengHei"/>
                          <a:cs typeface="Microsoft JhengHei"/>
                        </a:rPr>
                        <a:t>約 100 場會議</a:t>
                      </a:r>
                    </a:p>
                  </a:txBody>
                  <a:tcPr marL="91450" marR="91450" marT="45725" marB="45725" anchor="ctr"/>
                </a:tc>
                <a:tc>
                  <a:txBody>
                    <a:bodyPr/>
                    <a:lstStyle/>
                    <a:p>
                      <a:r>
                        <a:rPr sz="1200" b="0">
                          <a:solidFill>
                            <a:srgbClr val="222A35"/>
                          </a:solidFill>
                          <a:latin typeface="Microsoft JhengHei"/>
                          <a:ea typeface="Microsoft JhengHei"/>
                          <a:cs typeface="Microsoft JhengHei"/>
                        </a:rPr>
                        <a:t>每場約 8 條待辦</a:t>
                      </a:r>
                    </a:p>
                  </a:txBody>
                  <a:tcPr marL="91450" marR="91450" marT="45725" marB="45725" anchor="ctr"/>
                </a:tc>
                <a:tc>
                  <a:txBody>
                    <a:bodyPr/>
                    <a:lstStyle/>
                    <a:p>
                      <a:r>
                        <a:rPr sz="1200" b="0">
                          <a:solidFill>
                            <a:srgbClr val="222A35"/>
                          </a:solidFill>
                          <a:latin typeface="Microsoft JhengHei"/>
                          <a:ea typeface="Microsoft JhengHei"/>
                          <a:cs typeface="Microsoft JhengHei"/>
                        </a:rPr>
                        <a:t>30</a:t>
                      </a:r>
                    </a:p>
                  </a:txBody>
                  <a:tcPr marL="91450" marR="91450" marT="45725" marB="45725" anchor="ctr"/>
                </a:tc>
                <a:tc>
                  <a:txBody>
                    <a:bodyPr/>
                    <a:lstStyle/>
                    <a:p>
                      <a:r>
                        <a:rPr sz="1200" b="0">
                          <a:solidFill>
                            <a:srgbClr val="222A35"/>
                          </a:solidFill>
                          <a:latin typeface="Microsoft JhengHei"/>
                          <a:ea typeface="Microsoft JhengHei"/>
                          <a:cs typeface="Microsoft JhengHei"/>
                        </a:rPr>
                        <a:t>人工逐條彙整</a:t>
                      </a:r>
                    </a:p>
                  </a:txBody>
                  <a:tcPr marL="91450" marR="91450" marT="45725" marB="45725" anchor="ctr"/>
                </a:tc>
                <a:extLst>
                  <a:ext uri="{0D108BD9-81ED-4DB2-BD59-A6C34878D82A}">
                    <a16:rowId xmlns:a16="http://schemas.microsoft.com/office/drawing/2014/main" val="10001"/>
                  </a:ext>
                </a:extLst>
              </a:tr>
              <a:tr h="370850">
                <a:tc>
                  <a:txBody>
                    <a:bodyPr/>
                    <a:lstStyle/>
                    <a:p>
                      <a:r>
                        <a:rPr sz="1200" b="1">
                          <a:solidFill>
                            <a:srgbClr val="222A35"/>
                          </a:solidFill>
                          <a:latin typeface="Microsoft JhengHei"/>
                          <a:ea typeface="Microsoft JhengHei"/>
                          <a:cs typeface="Microsoft JhengHei"/>
                        </a:rPr>
                        <a:t>透過 Agent</a:t>
                      </a:r>
                    </a:p>
                  </a:txBody>
                  <a:tcPr marL="91450" marR="91450" marT="45725" marB="45725" anchor="ctr"/>
                </a:tc>
                <a:tc>
                  <a:txBody>
                    <a:bodyPr/>
                    <a:lstStyle/>
                    <a:p>
                      <a:r>
                        <a:rPr sz="1200" b="0">
                          <a:solidFill>
                            <a:srgbClr val="222A35"/>
                          </a:solidFill>
                          <a:latin typeface="Microsoft JhengHei"/>
                          <a:ea typeface="Microsoft JhengHei"/>
                          <a:cs typeface="Microsoft JhengHei"/>
                        </a:rPr>
                        <a:t>約 100 場會議</a:t>
                      </a:r>
                    </a:p>
                  </a:txBody>
                  <a:tcPr marL="91450" marR="91450" marT="45725" marB="45725" anchor="ctr"/>
                </a:tc>
                <a:tc>
                  <a:txBody>
                    <a:bodyPr/>
                    <a:lstStyle/>
                    <a:p>
                      <a:r>
                        <a:rPr sz="1200" b="0">
                          <a:solidFill>
                            <a:srgbClr val="222A35"/>
                          </a:solidFill>
                          <a:latin typeface="Microsoft JhengHei"/>
                          <a:ea typeface="Microsoft JhengHei"/>
                          <a:cs typeface="Microsoft JhengHei"/>
                        </a:rPr>
                        <a:t>每場約 8 條待辦</a:t>
                      </a:r>
                    </a:p>
                  </a:txBody>
                  <a:tcPr marL="91450" marR="91450" marT="45725" marB="45725" anchor="ctr"/>
                </a:tc>
                <a:tc>
                  <a:txBody>
                    <a:bodyPr/>
                    <a:lstStyle/>
                    <a:p>
                      <a:r>
                        <a:rPr sz="1200" b="0">
                          <a:solidFill>
                            <a:srgbClr val="222A35"/>
                          </a:solidFill>
                          <a:latin typeface="Microsoft JhengHei"/>
                          <a:ea typeface="Microsoft JhengHei"/>
                          <a:cs typeface="Microsoft JhengHei"/>
                        </a:rPr>
                        <a:t>5</a:t>
                      </a:r>
                    </a:p>
                  </a:txBody>
                  <a:tcPr marL="91450" marR="91450" marT="45725" marB="45725" anchor="ctr"/>
                </a:tc>
                <a:tc>
                  <a:txBody>
                    <a:bodyPr/>
                    <a:lstStyle/>
                    <a:p>
                      <a:r>
                        <a:rPr sz="1200" b="0">
                          <a:solidFill>
                            <a:srgbClr val="222A35"/>
                          </a:solidFill>
                          <a:latin typeface="Microsoft JhengHei"/>
                          <a:ea typeface="Microsoft JhengHei"/>
                          <a:cs typeface="Microsoft JhengHei"/>
                        </a:rPr>
                        <a:t>PM 確認為主</a:t>
                      </a:r>
                    </a:p>
                  </a:txBody>
                  <a:tcPr marL="91450" marR="91450" marT="45725" marB="45725" anchor="ct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9"/>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Copilot Studio 功能設定截圖與相關資料</a:t>
            </a:r>
            <a:endParaRPr/>
          </a:p>
        </p:txBody>
      </p:sp>
      <p:sp>
        <p:nvSpPr>
          <p:cNvPr id="94" name="Google Shape;94;p9"/>
          <p:cNvSpPr txBox="1"/>
          <p:nvPr/>
        </p:nvSpPr>
        <p:spPr>
          <a:xfrm>
            <a:off x="365895" y="955131"/>
            <a:ext cx="7693150"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kumimoji="0" lang="zh-TW" altLang="en-US"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佐證 </a:t>
            </a:r>
            <a:r>
              <a:rPr kumimoji="0" lang="en-US" altLang="zh-TW"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AI Agent </a:t>
            </a:r>
            <a:r>
              <a:rPr kumimoji="0" lang="zh-TW" altLang="en-US"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設計及運行資料</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95" name="Google Shape;95;p9"/>
          <p:cNvPicPr preferRelativeResize="0"/>
          <p:nvPr/>
        </p:nvPicPr>
        <p:blipFill rotWithShape="1">
          <a:blip r:embed="rId3">
            <a:alphaModFix/>
          </a:blip>
          <a:srcRect/>
          <a:stretch/>
        </p:blipFill>
        <p:spPr>
          <a:xfrm>
            <a:off x="365896" y="1959689"/>
            <a:ext cx="8293074" cy="4410015"/>
          </a:xfrm>
          <a:prstGeom prst="rect">
            <a:avLst/>
          </a:prstGeom>
          <a:noFill/>
          <a:ln>
            <a:noFill/>
          </a:ln>
        </p:spPr>
      </p:pic>
      <p:sp>
        <p:nvSpPr>
          <p:cNvPr id="96" name="Google Shape;96;p9"/>
          <p:cNvSpPr txBox="1"/>
          <p:nvPr/>
        </p:nvSpPr>
        <p:spPr>
          <a:xfrm>
            <a:off x="365895" y="1324463"/>
            <a:ext cx="11342693" cy="635226"/>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zh-TW" altLang="en-US" sz="14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請提供「各種關鍵功能」的設計截圖，必要時，請提供程式碼（例如：將「主題」 的程式碼匯出並另存一份 </a:t>
            </a:r>
            <a:r>
              <a:rPr kumimoji="0" lang="en-US" altLang="zh-TW" sz="14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.txt </a:t>
            </a:r>
            <a:r>
              <a:rPr kumimoji="0" lang="zh-TW" altLang="en-US" sz="14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檔案）。</a:t>
            </a:r>
            <a:endParaRPr kumimoji="0" sz="14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Universal 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niversal 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237</TotalTime>
  <Words>368</Words>
  <Application>Microsoft Office PowerPoint</Application>
  <PresentationFormat>寬螢幕</PresentationFormat>
  <Paragraphs>45</Paragraphs>
  <Slides>7</Slides>
  <Notes>6</Notes>
  <HiddenSlides>0</HiddenSlides>
  <MMClips>0</MMClips>
  <ScaleCrop>false</ScaleCrop>
  <HeadingPairs>
    <vt:vector size="6" baseType="variant">
      <vt:variant>
        <vt:lpstr>使用字型</vt:lpstr>
      </vt:variant>
      <vt:variant>
        <vt:i4>8</vt:i4>
      </vt:variant>
      <vt:variant>
        <vt:lpstr>佈景主題</vt:lpstr>
      </vt:variant>
      <vt:variant>
        <vt:i4>2</vt:i4>
      </vt:variant>
      <vt:variant>
        <vt:lpstr>投影片標題</vt:lpstr>
      </vt:variant>
      <vt:variant>
        <vt:i4>7</vt:i4>
      </vt:variant>
    </vt:vector>
  </HeadingPairs>
  <TitlesOfParts>
    <vt:vector size="17" baseType="lpstr">
      <vt:lpstr>Noto Sans Symbols</vt:lpstr>
      <vt:lpstr>Noto Sans TC</vt:lpstr>
      <vt:lpstr>微軟正黑體</vt:lpstr>
      <vt:lpstr>微軟正黑體</vt:lpstr>
      <vt:lpstr>新細明體</vt:lpstr>
      <vt:lpstr>Aptos</vt:lpstr>
      <vt:lpstr>Arial</vt:lpstr>
      <vt:lpstr>Calibri</vt:lpstr>
      <vt:lpstr>Universal Template</vt:lpstr>
      <vt:lpstr>1_Universal Template</vt:lpstr>
      <vt:lpstr>智能專案經理 AIPM</vt:lpstr>
      <vt:lpstr>提案動機與目的</vt:lpstr>
      <vt:lpstr>痛點對應解法與 Agent 目標使用者樣貌</vt:lpstr>
      <vt:lpstr>流程簡述</vt:lpstr>
      <vt:lpstr>流程示意圖</vt:lpstr>
      <vt:lpstr>預期效益</vt:lpstr>
      <vt:lpstr>Copilot Studio 功能設定截圖與相關資料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黃甯言-人力資源部-永豐金證券</dc:creator>
  <cp:lastModifiedBy>郭文浩-人力資源部-永豐金證券</cp:lastModifiedBy>
  <cp:revision>51</cp:revision>
  <dcterms:created xsi:type="dcterms:W3CDTF">2026-05-21T08:24:57Z</dcterms:created>
  <dcterms:modified xsi:type="dcterms:W3CDTF">2026-07-09T09:31:43Z</dcterms:modified>
</cp:coreProperties>
</file>