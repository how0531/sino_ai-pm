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28000" y="3556000"/>
            <a:ext cx="5715000" cy="5715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9000" y="4699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032000"/>
            <a:ext cx="3256973" cy="78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7900" y="3086100"/>
            <a:ext cx="9525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AI PM 專案經理特助</a:t>
            </a:r>
          </a:p>
        </p:txBody>
      </p:sp>
      <p:sp>
        <p:nvSpPr>
          <p:cNvPr id="6" name="Rectangle 5"/>
          <p:cNvSpPr/>
          <p:nvPr/>
        </p:nvSpPr>
        <p:spPr>
          <a:xfrm>
            <a:off x="977900" y="4038600"/>
            <a:ext cx="952500" cy="508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7900" y="4445000"/>
            <a:ext cx="8890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可行性評估與建置規劃</a:t>
            </a:r>
            <a:r>
              <a:rPr sz="1400" b="0">
                <a:solidFill>
                  <a:srgbClr val="7F7F7F"/>
                </a:solidFill>
                <a:latin typeface="Barlow"/>
                <a:ea typeface="微軟正黑體"/>
                <a:cs typeface="Barlow"/>
              </a:rPr>
              <a:t>　　2026/07/09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9100"/>
            <a:ext cx="9144000" cy="88900"/>
          </a:xfrm>
          <a:prstGeom prst="rect">
            <a:avLst/>
          </a:prstGeom>
          <a:solidFill>
            <a:srgbClr val="17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769100"/>
            <a:ext cx="1463040" cy="88900"/>
          </a:xfrm>
          <a:prstGeom prst="rect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0" y="6769100"/>
            <a:ext cx="1584960" cy="889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導讀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只做可行的：三個問題，兩個階段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哪些做得起來：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五個 Agent 的可行性總判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Part 1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怎麼落地：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架構、資料流、三道資安防線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Part 2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怎麼動手：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Copilot Studio 建置步驟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Part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02   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77900" y="4064000"/>
            <a:ext cx="1841500" cy="825500"/>
          </a:xfrm>
          <a:prstGeom prst="roundRect">
            <a:avLst/>
          </a:prstGeom>
          <a:solidFill>
            <a:srgbClr val="172439"/>
          </a:solidFill>
          <a:ln>
            <a:solidFill>
              <a:srgbClr val="172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PM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自然語言提問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73400" y="4064000"/>
            <a:ext cx="1841500" cy="825500"/>
          </a:xfrm>
          <a:prstGeom prst="roundRect">
            <a:avLst/>
          </a:prstGeom>
          <a:solidFill>
            <a:srgbClr val="172439"/>
          </a:solidFill>
          <a:ln>
            <a:solidFill>
              <a:srgbClr val="172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Copilot Studio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租戶內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8900" y="4064000"/>
            <a:ext cx="1841500" cy="825500"/>
          </a:xfrm>
          <a:prstGeom prst="roundRect">
            <a:avLst/>
          </a:prstGeom>
          <a:solidFill>
            <a:srgbClr val="172439"/>
          </a:solidFill>
          <a:ln>
            <a:solidFill>
              <a:srgbClr val="172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Power Automate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帶 PM 身分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4400" y="4064000"/>
            <a:ext cx="1841500" cy="825500"/>
          </a:xfrm>
          <a:prstGeom prst="roundRect">
            <a:avLst/>
          </a:prstGeom>
          <a:solidFill>
            <a:srgbClr val="C43826"/>
          </a:solidFill>
          <a:ln>
            <a:solidFill>
              <a:srgbClr val="C43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查詢範本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白名單守門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9900" y="4064000"/>
            <a:ext cx="1841500" cy="825500"/>
          </a:xfrm>
          <a:prstGeom prst="roundRect">
            <a:avLst/>
          </a:prstGeom>
          <a:solidFill>
            <a:srgbClr val="172439"/>
          </a:solidFill>
          <a:ln>
            <a:solidFill>
              <a:srgbClr val="172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內部系統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CUBE／神策／Planner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57500" y="4387850"/>
            <a:ext cx="177800" cy="177800"/>
          </a:xfrm>
          <a:prstGeom prst="rightArrow">
            <a:avLst/>
          </a:prstGeom>
          <a:solidFill>
            <a:srgbClr val="DAA360"/>
          </a:solidFill>
          <a:ln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22" name="Right Arrow 21"/>
          <p:cNvSpPr/>
          <p:nvPr/>
        </p:nvSpPr>
        <p:spPr>
          <a:xfrm>
            <a:off x="4953000" y="4387850"/>
            <a:ext cx="177800" cy="177800"/>
          </a:xfrm>
          <a:prstGeom prst="rightArrow">
            <a:avLst/>
          </a:prstGeom>
          <a:solidFill>
            <a:srgbClr val="DAA360"/>
          </a:solidFill>
          <a:ln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23" name="Right Arrow 22"/>
          <p:cNvSpPr/>
          <p:nvPr/>
        </p:nvSpPr>
        <p:spPr>
          <a:xfrm>
            <a:off x="7048500" y="4387850"/>
            <a:ext cx="177800" cy="177800"/>
          </a:xfrm>
          <a:prstGeom prst="rightArrow">
            <a:avLst/>
          </a:prstGeom>
          <a:solidFill>
            <a:srgbClr val="DAA360"/>
          </a:solidFill>
          <a:ln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24" name="Right Arrow 23"/>
          <p:cNvSpPr/>
          <p:nvPr/>
        </p:nvSpPr>
        <p:spPr>
          <a:xfrm>
            <a:off x="9144000" y="4387850"/>
            <a:ext cx="177800" cy="177800"/>
          </a:xfrm>
          <a:prstGeom prst="rightArrow">
            <a:avLst/>
          </a:prstGeom>
          <a:solidFill>
            <a:srgbClr val="DAA360"/>
          </a:solidFill>
          <a:ln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25" name="Pentagon 24"/>
          <p:cNvSpPr/>
          <p:nvPr/>
        </p:nvSpPr>
        <p:spPr>
          <a:xfrm>
            <a:off x="977900" y="5207000"/>
            <a:ext cx="10236200" cy="571500"/>
          </a:xfrm>
          <a:prstGeom prst="homePlate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回傳 JSON　→　繁中摘要＋表格　→　回覆 PM（催辦／開單需 PM 確認）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0" y="698500"/>
            <a:ext cx="406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0" b="1">
                <a:solidFill>
                  <a:srgbClr val="F2F5FA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5400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第一部分  ｜  </a:t>
            </a:r>
            <a:r>
              <a:rPr sz="12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PART 1 ·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8702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可行性評估：只留能落地的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977900" y="3683000"/>
            <a:ext cx="952500" cy="508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7900" y="39751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分水嶺：要不要打內部機房資料庫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03   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可行性總判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五個 Agent：立即做三、緩做二、剔除一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7900" y="2216150"/>
            <a:ext cx="279400" cy="279400"/>
          </a:xfrm>
          <a:prstGeom prst="ellipse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16150"/>
            <a:ext cx="295275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立即可行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2667000"/>
            <a:ext cx="3282950" cy="1079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75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900" y="3873500"/>
            <a:ext cx="32829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會議記錄／PRD 提案／時程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7900" y="4267200"/>
            <a:ext cx="406400" cy="25400"/>
          </a:xfrm>
          <a:prstGeom prst="rect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7850" y="2216150"/>
            <a:ext cx="279400" cy="279400"/>
          </a:xfrm>
          <a:prstGeom prst="ellipse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1550" y="2216150"/>
            <a:ext cx="295275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有條件可行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7850" y="2667000"/>
            <a:ext cx="3282950" cy="1079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75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7850" y="3873500"/>
            <a:ext cx="32829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數據／KPI，需 gateway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7850" y="4267200"/>
            <a:ext cx="406400" cy="25400"/>
          </a:xfrm>
          <a:prstGeom prst="rect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7800" y="2216150"/>
            <a:ext cx="279400" cy="279400"/>
          </a:xfrm>
          <a:prstGeom prst="ellipse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2216150"/>
            <a:ext cx="295275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剔除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7800" y="2667000"/>
            <a:ext cx="3282950" cy="1079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75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7800" y="3873500"/>
            <a:ext cx="328295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競品外網搜尋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7800" y="4267200"/>
            <a:ext cx="406400" cy="25400"/>
          </a:xfrm>
          <a:prstGeom prst="rect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04   </a:t>
            </a:r>
          </a:p>
        </p:txBody>
      </p:sp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第一階段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Phase 1 零基建：全在 M365 內，立即可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會議記錄：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逐字稿轉結論與待辦，Planner 開單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可行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提案 PRD：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一句話點子擴充成 User Story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可行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時程催辦：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過期任務自動生成催辦草稿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可行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05   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第二階段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Phase 2 有條件：卡在雲端打不到內部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數據 Agent：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CUBE／神策自然語言取數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需 gateway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KPI 缺口：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目標對現況差距與警示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吃數據管線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前置作業：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on-prem gateway＋查詢範本白名單</a:t>
            </a:r>
          </a:p>
        </p:txBody>
      </p:sp>
      <p:sp>
        <p:nvSpPr>
          <p:cNvPr id="14" name="Diamond 13"/>
          <p:cNvSpPr/>
          <p:nvPr/>
        </p:nvSpPr>
        <p:spPr>
          <a:xfrm>
            <a:off x="977900" y="45720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0000" y="44958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剔除項：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競品外網搜尋，幻覺與合規風險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先緩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06   </a:t>
            </a:r>
          </a:p>
        </p:txBody>
      </p:sp>
      <p:pic>
        <p:nvPicPr>
          <p:cNvPr id="17" name="Picture 1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0" y="698500"/>
            <a:ext cx="406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0" b="1">
                <a:solidFill>
                  <a:srgbClr val="F2F5FA"/>
                </a:solidFill>
                <a:latin typeface="Barlow"/>
                <a:ea typeface="Barlow"/>
                <a:cs typeface="Barlow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5400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第二部分  ｜  </a:t>
            </a:r>
            <a:r>
              <a:rPr sz="12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PART 2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8702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架構與資料流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977900" y="3683000"/>
            <a:ext cx="952500" cy="508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7900" y="39751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LLM 只在入口與出口，查詢走白名單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07   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資料流架構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資料流：LLM 不直接碰資料庫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入口出口：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LLM 只做理解問題與轉摘要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中間查詢：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一律走白名單，可稽核可驗證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08   </a:t>
            </a:r>
          </a:p>
        </p:txBody>
      </p:sp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資安設計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三道防線，資安審查好過關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查詢白名單：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LLM 只填參數，口徑可驗證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人在迴路：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催辦與開單一律 PM 確認才送出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身分與稽核：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列級權限，全程留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09   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0" y="698500"/>
            <a:ext cx="406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0" b="1">
                <a:solidFill>
                  <a:srgbClr val="F2F5FA"/>
                </a:solidFill>
                <a:latin typeface="Barlow"/>
                <a:ea typeface="Barlow"/>
                <a:cs typeface="Barlow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5400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第三部分  ｜  </a:t>
            </a:r>
            <a:r>
              <a:rPr sz="12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PART 3 ·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8702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如何在 Copilot Studio 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977900" y="3683000"/>
            <a:ext cx="952500" cy="508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7900" y="39751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共用骨架：Instructions＋Action＋確認關卡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10   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建置範本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PHASE 1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會議記錄 Agent：六步，約 30 分鐘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建 Agent：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語言選繁體中文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0480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29718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貼 Instructions：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結論＋待辦＋需確認欄位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657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5814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關 General knowledge：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不補會議沒講的</a:t>
            </a:r>
          </a:p>
        </p:txBody>
      </p:sp>
      <p:sp>
        <p:nvSpPr>
          <p:cNvPr id="14" name="Diamond 13"/>
          <p:cNvSpPr/>
          <p:nvPr/>
        </p:nvSpPr>
        <p:spPr>
          <a:xfrm>
            <a:off x="977900" y="42672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0000" y="41910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加 Action：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Planner 建立任務</a:t>
            </a:r>
          </a:p>
        </p:txBody>
      </p:sp>
      <p:sp>
        <p:nvSpPr>
          <p:cNvPr id="16" name="Diamond 15"/>
          <p:cNvSpPr/>
          <p:nvPr/>
        </p:nvSpPr>
        <p:spPr>
          <a:xfrm>
            <a:off x="977900" y="4876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0000" y="48006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確認關卡：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PM 點頭才開單</a:t>
            </a:r>
          </a:p>
        </p:txBody>
      </p:sp>
      <p:sp>
        <p:nvSpPr>
          <p:cNvPr id="18" name="Diamond 17"/>
          <p:cNvSpPr/>
          <p:nvPr/>
        </p:nvSpPr>
        <p:spPr>
          <a:xfrm>
            <a:off x="977900" y="5486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0000" y="54102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Test 面板：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貼逐字稿驗證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11   </a:t>
            </a:r>
          </a:p>
        </p:txBody>
      </p:sp>
      <p:pic>
        <p:nvPicPr>
          <p:cNvPr id="21" name="Picture 2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建置前置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PHASE 2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數據 Agent：先基建，再上線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架 gateway：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讓雲端 Copilot 連得到內部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包內部 API：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常用查詢約 15 種參數化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白名單：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LLM 只填日期／平台／功能</a:t>
            </a:r>
          </a:p>
        </p:txBody>
      </p:sp>
      <p:sp>
        <p:nvSpPr>
          <p:cNvPr id="14" name="Diamond 13"/>
          <p:cNvSpPr/>
          <p:nvPr/>
        </p:nvSpPr>
        <p:spPr>
          <a:xfrm>
            <a:off x="977900" y="45720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0000" y="44958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列級權限：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帶 PM 身分查數，不用服務帳號</a:t>
            </a:r>
          </a:p>
        </p:txBody>
      </p:sp>
      <p:sp>
        <p:nvSpPr>
          <p:cNvPr id="16" name="Diamond 15"/>
          <p:cNvSpPr/>
          <p:nvPr/>
        </p:nvSpPr>
        <p:spPr>
          <a:xfrm>
            <a:off x="977900" y="52832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0000" y="52070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KPI 缺口：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複用管線，差距用純程式計算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12   </a:t>
            </a:r>
          </a:p>
        </p:txBody>
      </p:sp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7493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下一步  ｜  </a:t>
            </a:r>
            <a:r>
              <a:rPr sz="11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10668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兩週路線圖：先 demo，再擴張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977900" y="1727200"/>
            <a:ext cx="838200" cy="381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7900" y="24384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3622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本週：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會議記錄 Agent 上線試跑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Phase 1</a:t>
            </a:r>
          </a:p>
        </p:txBody>
      </p:sp>
      <p:sp>
        <p:nvSpPr>
          <p:cNvPr id="10" name="Diamond 9"/>
          <p:cNvSpPr/>
          <p:nvPr/>
        </p:nvSpPr>
        <p:spPr>
          <a:xfrm>
            <a:off x="977900" y="31496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734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同步：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PRD 提案助手，半天可成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Phase 1</a:t>
            </a:r>
          </a:p>
        </p:txBody>
      </p:sp>
      <p:sp>
        <p:nvSpPr>
          <p:cNvPr id="12" name="Diamond 11"/>
          <p:cNvSpPr/>
          <p:nvPr/>
        </p:nvSpPr>
        <p:spPr>
          <a:xfrm>
            <a:off x="977900" y="38608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37846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兩週內：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時程催辦含確認關卡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Phase 1</a:t>
            </a:r>
          </a:p>
        </p:txBody>
      </p:sp>
      <p:sp>
        <p:nvSpPr>
          <p:cNvPr id="14" name="Diamond 13"/>
          <p:cNvSpPr/>
          <p:nvPr/>
        </p:nvSpPr>
        <p:spPr>
          <a:xfrm>
            <a:off x="977900" y="4572000"/>
            <a:ext cx="127000" cy="127000"/>
          </a:xfrm>
          <a:prstGeom prst="diamond">
            <a:avLst/>
          </a:prstGeom>
          <a:solidFill>
            <a:srgbClr val="DAA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0000" y="4495800"/>
            <a:ext cx="939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2439"/>
                </a:solidFill>
                <a:latin typeface="微軟正黑體"/>
                <a:ea typeface="微軟正黑體"/>
                <a:cs typeface="微軟正黑體"/>
              </a:rPr>
              <a:t>並行：</a:t>
            </a:r>
            <a:r>
              <a:rPr sz="1700" b="0">
                <a:solidFill>
                  <a:srgbClr val="222A35"/>
                </a:solidFill>
                <a:latin typeface="微軟正黑體"/>
                <a:ea typeface="微軟正黑體"/>
                <a:cs typeface="微軟正黑體"/>
              </a:rPr>
              <a:t>申請 gateway 與白名單</a:t>
            </a:r>
            <a:r>
              <a:rPr sz="1500" b="1">
                <a:solidFill>
                  <a:srgbClr val="C43826"/>
                </a:solidFill>
                <a:latin typeface="微軟正黑體"/>
                <a:ea typeface="微軟正黑體"/>
                <a:cs typeface="微軟正黑體"/>
              </a:rPr>
              <a:t>  Phase 2 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13   </a:t>
            </a:r>
          </a:p>
        </p:txBody>
      </p:sp>
      <p:pic>
        <p:nvPicPr>
          <p:cNvPr id="17" name="Picture 1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9000" y="-2286000"/>
            <a:ext cx="5588000" cy="5588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8000" y="762000"/>
            <a:ext cx="3302000" cy="3302000"/>
          </a:xfrm>
          <a:prstGeom prst="ellipse">
            <a:avLst/>
          </a:prstGeom>
          <a:noFill/>
          <a:ln w="25400">
            <a:solidFill>
              <a:srgbClr val="DAA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79500" y="5461000"/>
            <a:ext cx="2921000" cy="29210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0" y="698500"/>
            <a:ext cx="406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0" b="1">
                <a:solidFill>
                  <a:srgbClr val="F2F5FA"/>
                </a:solidFill>
                <a:latin typeface="Barlow"/>
                <a:ea typeface="Barlow"/>
                <a:cs typeface="Barlow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5400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結語  ｜  </a:t>
            </a:r>
            <a:r>
              <a:rPr sz="1200" b="1">
                <a:solidFill>
                  <a:srgbClr val="7F7F7F"/>
                </a:solidFill>
                <a:latin typeface="Barlow"/>
                <a:ea typeface="Barlow"/>
                <a:cs typeface="Barlow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8702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172439"/>
                </a:solidFill>
                <a:latin typeface="Microsoft YaHei"/>
                <a:ea typeface="Microsoft YaHei"/>
                <a:cs typeface="Microsoft YaHei"/>
              </a:rPr>
              <a:t>謝謝，Phase 1 可以立刻開工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977900" y="3683000"/>
            <a:ext cx="952500" cy="50800"/>
          </a:xfrm>
          <a:prstGeom prst="rect">
            <a:avLst/>
          </a:prstGeom>
          <a:solidFill>
            <a:srgbClr val="C4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7900" y="39751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微軟正黑體"/>
                <a:ea typeface="微軟正黑體"/>
                <a:cs typeface="微軟正黑體"/>
              </a:rPr>
              <a:t>先做能做的，數據面等基建到位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63373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2439"/>
                </a:solidFill>
                <a:latin typeface="Barlow"/>
                <a:ea typeface="Barlow"/>
                <a:cs typeface="Barlow"/>
              </a:rPr>
              <a:t>14   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37" y="6350000"/>
            <a:ext cx="2718163" cy="27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