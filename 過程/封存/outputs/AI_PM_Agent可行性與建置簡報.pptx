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4"/>
  </p:notesMasterIdLst>
  <p:handoutMasterIdLst>
    <p:handoutMasterId r:id="rId5"/>
  </p:handoutMasterIdLst>
  <p:sldIdLst>
    <p:sldId id="256" r:id="rId3"/>
    <p:sldId id="257" r:id="rId2"/>
    <p:sldId id="258" r:id="rId11"/>
    <p:sldId id="259" r:id="rId12"/>
    <p:sldId id="260" r:id="rId13"/>
    <p:sldId id="261" r:id="rId14"/>
    <p:sldId id="262" r:id="rId15"/>
    <p:sldId id="263" r:id="rId16"/>
    <p:sldId id="264" r:id="rId17"/>
    <p:sldId id="265" r:id="rId18"/>
    <p:sldId id="266" r:id="rId19"/>
    <p:sldId id="267" r:id="rId20"/>
    <p:sldId id="268" r:id="rId21"/>
  </p:sldIdLst>
  <p:sldSz cx="11949113" cy="6721475"/>
  <p:notesSz cx="6797675" cy="9928225"/>
  <p:custDataLst>
    <p:tags r:id="rId6"/>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66"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CCFF"/>
    <a:srgbClr val="FFFF99"/>
    <a:srgbClr val="FFCC00"/>
    <a:srgbClr val="66CCFF"/>
    <a:srgbClr val="99CCFF"/>
    <a:srgbClr val="FF33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48" autoAdjust="0"/>
    <p:restoredTop sz="94513" autoAdjust="0"/>
  </p:normalViewPr>
  <p:slideViewPr>
    <p:cSldViewPr snapToGrid="0">
      <p:cViewPr varScale="1">
        <p:scale>
          <a:sx n="114" d="100"/>
          <a:sy n="114" d="100"/>
        </p:scale>
        <p:origin x="732" y="96"/>
      </p:cViewPr>
      <p:guideLst>
        <p:guide orient="horz" pos="2166"/>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3127"/>
        <p:guide pos="214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handoutMaster" Target="handoutMasters/handoutMaster1.xml"/><Relationship Id="rId6" Type="http://schemas.openxmlformats.org/officeDocument/2006/relationships/tags" Target="tags/tag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7988"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defTabSz="989013">
              <a:defRPr sz="1200" b="0">
                <a:latin typeface="Times New Roman" charset="0"/>
                <a:ea typeface="新細明體" pitchFamily="18" charset="-120"/>
              </a:defRPr>
            </a:lvl1pPr>
          </a:lstStyle>
          <a:p>
            <a:pPr>
              <a:defRPr/>
            </a:pPr>
            <a:endParaRPr lang="en-US" altLang="zh-TW"/>
          </a:p>
        </p:txBody>
      </p:sp>
      <p:sp>
        <p:nvSpPr>
          <p:cNvPr id="7171" name="Rectangle 3"/>
          <p:cNvSpPr>
            <a:spLocks noGrp="1" noChangeArrowheads="1"/>
          </p:cNvSpPr>
          <p:nvPr>
            <p:ph type="dt" sz="quarter" idx="1"/>
          </p:nvPr>
        </p:nvSpPr>
        <p:spPr bwMode="auto">
          <a:xfrm>
            <a:off x="3849688" y="0"/>
            <a:ext cx="2947987" cy="496888"/>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81C88EAB-EE0A-4154-B212-2925DF29A372}" type="datetime1">
              <a:rPr lang="zh-TW" altLang="en-US"/>
              <a:pPr>
                <a:defRPr/>
              </a:pPr>
              <a:t>2022/7/29</a:t>
            </a:fld>
            <a:endParaRPr lang="en-US" altLang="zh-TW"/>
          </a:p>
        </p:txBody>
      </p:sp>
      <p:sp>
        <p:nvSpPr>
          <p:cNvPr id="7172" name="Rectangle 4"/>
          <p:cNvSpPr>
            <a:spLocks noGrp="1" noChangeArrowheads="1"/>
          </p:cNvSpPr>
          <p:nvPr>
            <p:ph type="ftr" sz="quarter" idx="2"/>
          </p:nvPr>
        </p:nvSpPr>
        <p:spPr bwMode="auto">
          <a:xfrm>
            <a:off x="0" y="9431338"/>
            <a:ext cx="2947988"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defTabSz="989013">
              <a:defRPr sz="1200" b="0">
                <a:latin typeface="Times New Roman" charset="0"/>
                <a:ea typeface="新細明體" pitchFamily="18" charset="-120"/>
              </a:defRPr>
            </a:lvl1pPr>
          </a:lstStyle>
          <a:p>
            <a:pPr>
              <a:defRPr/>
            </a:pPr>
            <a:r>
              <a:rPr lang="zh-TW" altLang="en-US"/>
              <a:t>20060726 STCv1</a:t>
            </a:r>
            <a:endParaRPr lang="en-US" altLang="zh-TW"/>
          </a:p>
        </p:txBody>
      </p:sp>
      <p:sp>
        <p:nvSpPr>
          <p:cNvPr id="7173" name="Rectangle 5"/>
          <p:cNvSpPr>
            <a:spLocks noGrp="1" noChangeArrowheads="1"/>
          </p:cNvSpPr>
          <p:nvPr>
            <p:ph type="sldNum" sz="quarter" idx="3"/>
          </p:nvPr>
        </p:nvSpPr>
        <p:spPr bwMode="auto">
          <a:xfrm>
            <a:off x="3849688" y="9431338"/>
            <a:ext cx="2947987" cy="496887"/>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4162425" y="1279525"/>
            <a:ext cx="15078075" cy="848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814388" y="366713"/>
            <a:ext cx="5645150" cy="32861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6323013" y="112713"/>
            <a:ext cx="269875" cy="122237"/>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89013">
              <a:defRPr sz="800" b="0">
                <a:latin typeface="Arial" charset="0"/>
                <a:ea typeface="新細明體" pitchFamily="18" charset="-120"/>
              </a:defRPr>
            </a:lvl1pPr>
          </a:lstStyle>
          <a:p>
            <a:pPr>
              <a:defRPr/>
            </a:pPr>
            <a:r>
              <a:rPr lang="en-US" altLang="zh-TW"/>
              <a:t>20060726 STCv1</a:t>
            </a:r>
            <a:endParaRPr lang="zh-TW" altLang="en-US"/>
          </a:p>
        </p:txBody>
      </p:sp>
      <p:sp>
        <p:nvSpPr>
          <p:cNvPr id="5127" name="pg num"/>
          <p:cNvSpPr>
            <a:spLocks noGrp="1" noChangeArrowheads="1"/>
          </p:cNvSpPr>
          <p:nvPr>
            <p:ph type="sldNum" sz="quarter" idx="5"/>
          </p:nvPr>
        </p:nvSpPr>
        <p:spPr bwMode="auto">
          <a:xfrm>
            <a:off x="6051550" y="9547225"/>
            <a:ext cx="541338" cy="184150"/>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89013">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a:p>
        </p:txBody>
      </p:sp>
      <p:sp>
        <p:nvSpPr>
          <p:cNvPr id="2" name="McK Separator" hidden="1"/>
          <p:cNvSpPr>
            <a:spLocks noChangeShapeType="1"/>
          </p:cNvSpPr>
          <p:nvPr/>
        </p:nvSpPr>
        <p:spPr bwMode="auto">
          <a:xfrm>
            <a:off x="814388" y="1509713"/>
            <a:ext cx="5197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開場：不畫大餅，只講能落地的。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分水嶺是要不要打內部機房 DB。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對應資安三題：資料出口、權限繼承、稽核軌跡。</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收束：先做能做的，數據面等基建。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3" name="矩形 9">
            <a:extLst>
              <a:ext uri="{FF2B5EF4-FFF2-40B4-BE49-F238E27FC236}">
                <a16:creationId xmlns:a16="http://schemas.microsoft.com/office/drawing/2014/main" id="{AD096105-AA94-4405-9385-0B22D052EBC1}"/>
              </a:ext>
            </a:extLst>
          </p:cNvPr>
          <p:cNvSpPr>
            <a:spLocks noChangeArrowheads="1"/>
          </p:cNvSpPr>
          <p:nvPr userDrawn="1"/>
        </p:nvSpPr>
        <p:spPr bwMode="auto">
          <a:xfrm>
            <a:off x="16935" y="6427870"/>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4A63242C-D0E9-4612-BCC5-8CE405C793D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3337" y="325520"/>
            <a:ext cx="2269864" cy="54826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 Id="rId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27E35814-BE13-4B8C-9BCA-87611607064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61565" y="6144604"/>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27870"/>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BA005CF8-19C7-4167-A64B-F49DB52C44E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713693" y="6348801"/>
            <a:ext cx="2829263" cy="29159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latin typeface="Barlow"/>
                <a:ea typeface="Microsoft YaHei"/>
              </a:rPr>
              <a:t>AI PM 專案經理特助｜可行性評估與建置規劃</a:t>
            </a:r>
          </a:p>
        </p:txBody>
      </p:sp>
      <p:sp>
        <p:nvSpPr>
          <p:cNvPr id="3" name="Text Placeholder 2"/>
          <p:cNvSpPr>
            <a:spLocks noGrp="1"/>
          </p:cNvSpPr>
          <p:nvPr>
            <p:ph type="body" idx="2" sz="half"/>
          </p:nvPr>
        </p:nvSpPr>
        <p:spPr/>
        <p:txBody>
          <a:bodyPr/>
          <a:lstStyle/>
          <a:p>
            <a:r>
              <a:rPr>
                <a:latin typeface="Barlow"/>
                <a:ea typeface="微軟正黑體"/>
              </a:rPr>
              <a:t>專案規劃</a:t>
            </a:r>
          </a:p>
        </p:txBody>
      </p:sp>
      <p:sp>
        <p:nvSpPr>
          <p:cNvPr id="4" name="Text Placeholder 3"/>
          <p:cNvSpPr>
            <a:spLocks noGrp="1"/>
          </p:cNvSpPr>
          <p:nvPr>
            <p:ph type="body" idx="10" sz="half"/>
          </p:nvPr>
        </p:nvSpPr>
        <p:spPr/>
        <p:txBody>
          <a:bodyPr/>
          <a:lstStyle/>
          <a:p>
            <a:r>
              <a:rPr>
                <a:latin typeface="Barlow"/>
                <a:ea typeface="微軟正黑體"/>
              </a:rPr>
              <a:t>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latin typeface="Barlow"/>
                <a:ea typeface="Microsoft YaHei"/>
              </a:rPr>
              <a:t>本簡報回答三個問題</a:t>
            </a:r>
          </a:p>
        </p:txBody>
      </p:sp>
      <p:sp>
        <p:nvSpPr>
          <p:cNvPr id="3" name="Content Placeholder 2"/>
          <p:cNvSpPr>
            <a:spLocks noGrp="1"/>
          </p:cNvSpPr>
          <p:nvPr>
            <p:ph idx="10" sz="quarter"/>
          </p:nvPr>
        </p:nvSpPr>
        <p:spPr/>
        <p:txBody>
          <a:bodyPr/>
          <a:lstStyle/>
          <a:p>
            <a:r>
              <a:rPr>
                <a:solidFill>
                  <a:srgbClr val="222A35"/>
                </a:solidFill>
                <a:latin typeface="Barlow"/>
                <a:ea typeface="微軟正黑體"/>
              </a:rPr>
              <a:t>五個 Copilot Studio Agent，哪些真的做得起來</a:t>
            </a:r>
          </a:p>
          <a:p>
            <a:r>
              <a:rPr>
                <a:solidFill>
                  <a:srgbClr val="222A35"/>
                </a:solidFill>
                <a:latin typeface="Barlow"/>
                <a:ea typeface="微軟正黑體"/>
              </a:rPr>
              <a:t>可行的怎麼落地：架構、資料流、資安防線</a:t>
            </a:r>
          </a:p>
          <a:p>
            <a:r>
              <a:rPr>
                <a:solidFill>
                  <a:srgbClr val="222A35"/>
                </a:solidFill>
                <a:latin typeface="Barlow"/>
                <a:ea typeface="微軟正黑體"/>
              </a:rPr>
              <a:t>如何在 Copilot Studio 動手建置（含範本）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Part 1｜可行性評估：只留能落地、不踩資安地雷的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五個 Agent 分兩階段，Phase 1 零基建可立即 demo</a:t>
            </a:r>
          </a:p>
        </p:txBody>
      </p:sp>
      <p:graphicFrame>
        <p:nvGraphicFramePr>
          <p:cNvPr id="3" name="Table 2"/>
          <p:cNvGraphicFramePr>
            <a:graphicFrameLocks noGrp="1"/>
          </p:cNvGraphicFramePr>
          <p:nvPr/>
        </p:nvGraphicFramePr>
        <p:xfrm>
          <a:off x="397951" y="889000"/>
          <a:ext cx="11110876" cy="3200400"/>
        </p:xfrm>
        <a:graphic>
          <a:graphicData uri="http://schemas.openxmlformats.org/drawingml/2006/table">
            <a:tbl>
              <a:tblPr>
                <a:tableStyleId>{5C22544A-7EE6-4342-B048-85BDC9FD1C3A}</a:tableStyleId>
              </a:tblPr>
              <a:tblGrid>
                <a:gridCol w="2777719"/>
                <a:gridCol w="2777719"/>
                <a:gridCol w="2777719"/>
                <a:gridCol w="2777719"/>
              </a:tblGrid>
              <a:tr h="457200">
                <a:tc>
                  <a:txBody>
                    <a:bodyPr wrap="square"/>
                    <a:lstStyle/>
                    <a:p>
                      <a:r>
                        <a:rPr sz="1600" b="1">
                          <a:solidFill>
                            <a:srgbClr val="FFFFFF"/>
                          </a:solidFill>
                          <a:latin typeface="Barlow"/>
                          <a:ea typeface="微軟正黑體"/>
                        </a:rPr>
                        <a:t>Agent 功能</a:t>
                      </a:r>
                    </a:p>
                  </a:txBody>
                  <a:tcPr anchor="ctr">
                    <a:solidFill>
                      <a:srgbClr val="172439"/>
                    </a:solidFill>
                  </a:tcPr>
                </a:tc>
                <a:tc>
                  <a:txBody>
                    <a:bodyPr wrap="square"/>
                    <a:lstStyle/>
                    <a:p>
                      <a:r>
                        <a:rPr sz="1600" b="1">
                          <a:solidFill>
                            <a:srgbClr val="FFFFFF"/>
                          </a:solidFill>
                          <a:latin typeface="Barlow"/>
                          <a:ea typeface="微軟正黑體"/>
                        </a:rPr>
                        <a:t>可行性</a:t>
                      </a:r>
                    </a:p>
                  </a:txBody>
                  <a:tcPr anchor="ctr">
                    <a:solidFill>
                      <a:srgbClr val="172439"/>
                    </a:solidFill>
                  </a:tcPr>
                </a:tc>
                <a:tc>
                  <a:txBody>
                    <a:bodyPr wrap="square"/>
                    <a:lstStyle/>
                    <a:p>
                      <a:r>
                        <a:rPr sz="1600" b="1">
                          <a:solidFill>
                            <a:srgbClr val="FFFFFF"/>
                          </a:solidFill>
                          <a:latin typeface="Barlow"/>
                          <a:ea typeface="微軟正黑體"/>
                        </a:rPr>
                        <a:t>前提 / 卡點</a:t>
                      </a:r>
                    </a:p>
                  </a:txBody>
                  <a:tcPr anchor="ctr">
                    <a:solidFill>
                      <a:srgbClr val="172439"/>
                    </a:solidFill>
                  </a:tcPr>
                </a:tc>
                <a:tc>
                  <a:txBody>
                    <a:bodyPr wrap="square"/>
                    <a:lstStyle/>
                    <a:p>
                      <a:r>
                        <a:rPr sz="1600" b="1">
                          <a:solidFill>
                            <a:srgbClr val="FFFFFF"/>
                          </a:solidFill>
                          <a:latin typeface="Barlow"/>
                          <a:ea typeface="微軟正黑體"/>
                        </a:rPr>
                        <a:t>階段</a:t>
                      </a:r>
                    </a:p>
                  </a:txBody>
                  <a:tcPr anchor="ctr">
                    <a:solidFill>
                      <a:srgbClr val="172439"/>
                    </a:solidFill>
                  </a:tcPr>
                </a:tc>
              </a:tr>
              <a:tr h="457200">
                <a:tc>
                  <a:txBody>
                    <a:bodyPr wrap="square"/>
                    <a:lstStyle/>
                    <a:p>
                      <a:r>
                        <a:rPr sz="1400" b="0">
                          <a:solidFill>
                            <a:srgbClr val="222A35"/>
                          </a:solidFill>
                          <a:latin typeface="Barlow"/>
                          <a:ea typeface="微軟正黑體"/>
                        </a:rPr>
                        <a:t>會議記錄</a:t>
                      </a:r>
                    </a:p>
                  </a:txBody>
                  <a:tcPr anchor="ctr">
                    <a:solidFill>
                      <a:srgbClr val="FFFFFF"/>
                    </a:solidFill>
                  </a:tcPr>
                </a:tc>
                <a:tc>
                  <a:txBody>
                    <a:bodyPr wrap="square"/>
                    <a:lstStyle/>
                    <a:p>
                      <a:r>
                        <a:rPr sz="1400" b="0">
                          <a:solidFill>
                            <a:srgbClr val="1E9E5A"/>
                          </a:solidFill>
                          <a:latin typeface="Barlow"/>
                          <a:ea typeface="微軟正黑體"/>
                        </a:rPr>
                        <a:t>● </a:t>
                      </a:r>
                      <a:r>
                        <a:rPr sz="1400" b="0">
                          <a:solidFill>
                            <a:srgbClr val="222A35"/>
                          </a:solidFill>
                          <a:latin typeface="Barlow"/>
                          <a:ea typeface="微軟正黑體"/>
                        </a:rPr>
                        <a:t>可行</a:t>
                      </a:r>
                    </a:p>
                  </a:txBody>
                  <a:tcPr anchor="ctr">
                    <a:solidFill>
                      <a:srgbClr val="FFFFFF"/>
                    </a:solidFill>
                  </a:tcPr>
                </a:tc>
                <a:tc>
                  <a:txBody>
                    <a:bodyPr wrap="square"/>
                    <a:lstStyle/>
                    <a:p>
                      <a:r>
                        <a:rPr sz="1400" b="0">
                          <a:solidFill>
                            <a:srgbClr val="222A35"/>
                          </a:solidFill>
                          <a:latin typeface="Barlow"/>
                          <a:ea typeface="微軟正黑體"/>
                        </a:rPr>
                        <a:t>純 LLM＋Planner，全在 M365 內</a:t>
                      </a:r>
                    </a:p>
                  </a:txBody>
                  <a:tcPr anchor="ctr">
                    <a:solidFill>
                      <a:srgbClr val="FFFFFF"/>
                    </a:solidFill>
                  </a:tcPr>
                </a:tc>
                <a:tc>
                  <a:txBody>
                    <a:bodyPr wrap="square"/>
                    <a:lstStyle/>
                    <a:p>
                      <a:r>
                        <a:rPr sz="1400" b="0">
                          <a:solidFill>
                            <a:srgbClr val="222A35"/>
                          </a:solidFill>
                          <a:latin typeface="Barlow"/>
                          <a:ea typeface="微軟正黑體"/>
                        </a:rPr>
                        <a:t>Phase 1</a:t>
                      </a:r>
                    </a:p>
                  </a:txBody>
                  <a:tcPr anchor="ctr">
                    <a:solidFill>
                      <a:srgbClr val="FFFFFF"/>
                    </a:solidFill>
                  </a:tcPr>
                </a:tc>
              </a:tr>
              <a:tr h="457200">
                <a:tc>
                  <a:txBody>
                    <a:bodyPr wrap="square"/>
                    <a:lstStyle/>
                    <a:p>
                      <a:r>
                        <a:rPr sz="1400" b="0">
                          <a:solidFill>
                            <a:srgbClr val="222A35"/>
                          </a:solidFill>
                          <a:latin typeface="Barlow"/>
                          <a:ea typeface="微軟正黑體"/>
                        </a:rPr>
                        <a:t>提案（PRD 擴充）</a:t>
                      </a:r>
                    </a:p>
                  </a:txBody>
                  <a:tcPr anchor="ctr">
                    <a:solidFill>
                      <a:srgbClr val="E4E9F4"/>
                    </a:solidFill>
                  </a:tcPr>
                </a:tc>
                <a:tc>
                  <a:txBody>
                    <a:bodyPr wrap="square"/>
                    <a:lstStyle/>
                    <a:p>
                      <a:r>
                        <a:rPr sz="1400" b="0">
                          <a:solidFill>
                            <a:srgbClr val="1E9E5A"/>
                          </a:solidFill>
                          <a:latin typeface="Barlow"/>
                          <a:ea typeface="微軟正黑體"/>
                        </a:rPr>
                        <a:t>● </a:t>
                      </a:r>
                      <a:r>
                        <a:rPr sz="1400" b="0">
                          <a:solidFill>
                            <a:srgbClr val="222A35"/>
                          </a:solidFill>
                          <a:latin typeface="Barlow"/>
                          <a:ea typeface="微軟正黑體"/>
                        </a:rPr>
                        <a:t>可行</a:t>
                      </a:r>
                    </a:p>
                  </a:txBody>
                  <a:tcPr anchor="ctr">
                    <a:solidFill>
                      <a:srgbClr val="E4E9F4"/>
                    </a:solidFill>
                  </a:tcPr>
                </a:tc>
                <a:tc>
                  <a:txBody>
                    <a:bodyPr wrap="square"/>
                    <a:lstStyle/>
                    <a:p>
                      <a:r>
                        <a:rPr sz="1400" b="0">
                          <a:solidFill>
                            <a:srgbClr val="222A35"/>
                          </a:solidFill>
                          <a:latin typeface="Barlow"/>
                          <a:ea typeface="微軟正黑體"/>
                        </a:rPr>
                        <a:t>純 LLM，一句話→User Story</a:t>
                      </a:r>
                    </a:p>
                  </a:txBody>
                  <a:tcPr anchor="ctr">
                    <a:solidFill>
                      <a:srgbClr val="E4E9F4"/>
                    </a:solidFill>
                  </a:tcPr>
                </a:tc>
                <a:tc>
                  <a:txBody>
                    <a:bodyPr wrap="square"/>
                    <a:lstStyle/>
                    <a:p>
                      <a:r>
                        <a:rPr sz="1400" b="0">
                          <a:solidFill>
                            <a:srgbClr val="222A35"/>
                          </a:solidFill>
                          <a:latin typeface="Barlow"/>
                          <a:ea typeface="微軟正黑體"/>
                        </a:rPr>
                        <a:t>Phase 1</a:t>
                      </a:r>
                    </a:p>
                  </a:txBody>
                  <a:tcPr anchor="ctr">
                    <a:solidFill>
                      <a:srgbClr val="E4E9F4"/>
                    </a:solidFill>
                  </a:tcPr>
                </a:tc>
              </a:tr>
              <a:tr h="457200">
                <a:tc>
                  <a:txBody>
                    <a:bodyPr wrap="square"/>
                    <a:lstStyle/>
                    <a:p>
                      <a:r>
                        <a:rPr sz="1400" b="0">
                          <a:solidFill>
                            <a:srgbClr val="222A35"/>
                          </a:solidFill>
                          <a:latin typeface="Barlow"/>
                          <a:ea typeface="微軟正黑體"/>
                        </a:rPr>
                        <a:t>時程（Planner 版）</a:t>
                      </a:r>
                    </a:p>
                  </a:txBody>
                  <a:tcPr anchor="ctr">
                    <a:solidFill>
                      <a:srgbClr val="FFFFFF"/>
                    </a:solidFill>
                  </a:tcPr>
                </a:tc>
                <a:tc>
                  <a:txBody>
                    <a:bodyPr wrap="square"/>
                    <a:lstStyle/>
                    <a:p>
                      <a:r>
                        <a:rPr sz="1400" b="0">
                          <a:solidFill>
                            <a:srgbClr val="1E9E5A"/>
                          </a:solidFill>
                          <a:latin typeface="Barlow"/>
                          <a:ea typeface="微軟正黑體"/>
                        </a:rPr>
                        <a:t>● </a:t>
                      </a:r>
                      <a:r>
                        <a:rPr sz="1400" b="0">
                          <a:solidFill>
                            <a:srgbClr val="222A35"/>
                          </a:solidFill>
                          <a:latin typeface="Barlow"/>
                          <a:ea typeface="微軟正黑體"/>
                        </a:rPr>
                        <a:t>可行</a:t>
                      </a:r>
                    </a:p>
                  </a:txBody>
                  <a:tcPr anchor="ctr">
                    <a:solidFill>
                      <a:srgbClr val="FFFFFF"/>
                    </a:solidFill>
                  </a:tcPr>
                </a:tc>
                <a:tc>
                  <a:txBody>
                    <a:bodyPr wrap="square"/>
                    <a:lstStyle/>
                    <a:p>
                      <a:r>
                        <a:rPr sz="1400" b="0">
                          <a:solidFill>
                            <a:srgbClr val="222A35"/>
                          </a:solidFill>
                          <a:latin typeface="Barlow"/>
                          <a:ea typeface="微軟正黑體"/>
                        </a:rPr>
                        <a:t>Planner 原生連接器</a:t>
                      </a:r>
                    </a:p>
                  </a:txBody>
                  <a:tcPr anchor="ctr">
                    <a:solidFill>
                      <a:srgbClr val="FFFFFF"/>
                    </a:solidFill>
                  </a:tcPr>
                </a:tc>
                <a:tc>
                  <a:txBody>
                    <a:bodyPr wrap="square"/>
                    <a:lstStyle/>
                    <a:p>
                      <a:r>
                        <a:rPr sz="1400" b="0">
                          <a:solidFill>
                            <a:srgbClr val="222A35"/>
                          </a:solidFill>
                          <a:latin typeface="Barlow"/>
                          <a:ea typeface="微軟正黑體"/>
                        </a:rPr>
                        <a:t>Phase 1</a:t>
                      </a:r>
                    </a:p>
                  </a:txBody>
                  <a:tcPr anchor="ctr">
                    <a:solidFill>
                      <a:srgbClr val="FFFFFF"/>
                    </a:solidFill>
                  </a:tcPr>
                </a:tc>
              </a:tr>
              <a:tr h="457200">
                <a:tc>
                  <a:txBody>
                    <a:bodyPr wrap="square"/>
                    <a:lstStyle/>
                    <a:p>
                      <a:r>
                        <a:rPr sz="1400" b="0">
                          <a:solidFill>
                            <a:srgbClr val="222A35"/>
                          </a:solidFill>
                          <a:latin typeface="Barlow"/>
                          <a:ea typeface="微軟正黑體"/>
                        </a:rPr>
                        <a:t>數據（CUBE／神策）</a:t>
                      </a:r>
                    </a:p>
                  </a:txBody>
                  <a:tcPr anchor="ctr">
                    <a:solidFill>
                      <a:srgbClr val="E4E9F4"/>
                    </a:solidFill>
                  </a:tcPr>
                </a:tc>
                <a:tc>
                  <a:txBody>
                    <a:bodyPr wrap="square"/>
                    <a:lstStyle/>
                    <a:p>
                      <a:r>
                        <a:rPr sz="1400" b="0">
                          <a:solidFill>
                            <a:srgbClr val="DAA360"/>
                          </a:solidFill>
                          <a:latin typeface="Barlow"/>
                          <a:ea typeface="微軟正黑體"/>
                        </a:rPr>
                        <a:t>● </a:t>
                      </a:r>
                      <a:r>
                        <a:rPr sz="1400" b="0">
                          <a:solidFill>
                            <a:srgbClr val="222A35"/>
                          </a:solidFill>
                          <a:latin typeface="Barlow"/>
                          <a:ea typeface="微軟正黑體"/>
                        </a:rPr>
                        <a:t>有條件</a:t>
                      </a:r>
                    </a:p>
                  </a:txBody>
                  <a:tcPr anchor="ctr">
                    <a:solidFill>
                      <a:srgbClr val="E4E9F4"/>
                    </a:solidFill>
                  </a:tcPr>
                </a:tc>
                <a:tc>
                  <a:txBody>
                    <a:bodyPr wrap="square"/>
                    <a:lstStyle/>
                    <a:p>
                      <a:r>
                        <a:rPr sz="1400" b="0">
                          <a:solidFill>
                            <a:srgbClr val="222A35"/>
                          </a:solidFill>
                          <a:latin typeface="Barlow"/>
                          <a:ea typeface="微軟正黑體"/>
                        </a:rPr>
                        <a:t>需 on-prem gateway 才能打內部 DB</a:t>
                      </a:r>
                    </a:p>
                  </a:txBody>
                  <a:tcPr anchor="ctr">
                    <a:solidFill>
                      <a:srgbClr val="E4E9F4"/>
                    </a:solidFill>
                  </a:tcPr>
                </a:tc>
                <a:tc>
                  <a:txBody>
                    <a:bodyPr wrap="square"/>
                    <a:lstStyle/>
                    <a:p>
                      <a:r>
                        <a:rPr sz="1400" b="0">
                          <a:solidFill>
                            <a:srgbClr val="222A35"/>
                          </a:solidFill>
                          <a:latin typeface="Barlow"/>
                          <a:ea typeface="微軟正黑體"/>
                        </a:rPr>
                        <a:t>Phase 2</a:t>
                      </a:r>
                    </a:p>
                  </a:txBody>
                  <a:tcPr anchor="ctr">
                    <a:solidFill>
                      <a:srgbClr val="E4E9F4"/>
                    </a:solidFill>
                  </a:tcPr>
                </a:tc>
              </a:tr>
              <a:tr h="457200">
                <a:tc>
                  <a:txBody>
                    <a:bodyPr wrap="square"/>
                    <a:lstStyle/>
                    <a:p>
                      <a:r>
                        <a:rPr sz="1400" b="0">
                          <a:solidFill>
                            <a:srgbClr val="222A35"/>
                          </a:solidFill>
                          <a:latin typeface="Barlow"/>
                          <a:ea typeface="微軟正黑體"/>
                        </a:rPr>
                        <a:t>KPI 缺口分析</a:t>
                      </a:r>
                    </a:p>
                  </a:txBody>
                  <a:tcPr anchor="ctr">
                    <a:solidFill>
                      <a:srgbClr val="FFFFFF"/>
                    </a:solidFill>
                  </a:tcPr>
                </a:tc>
                <a:tc>
                  <a:txBody>
                    <a:bodyPr wrap="square"/>
                    <a:lstStyle/>
                    <a:p>
                      <a:r>
                        <a:rPr sz="1400" b="0">
                          <a:solidFill>
                            <a:srgbClr val="DAA360"/>
                          </a:solidFill>
                          <a:latin typeface="Barlow"/>
                          <a:ea typeface="微軟正黑體"/>
                        </a:rPr>
                        <a:t>● </a:t>
                      </a:r>
                      <a:r>
                        <a:rPr sz="1400" b="0">
                          <a:solidFill>
                            <a:srgbClr val="222A35"/>
                          </a:solidFill>
                          <a:latin typeface="Barlow"/>
                          <a:ea typeface="微軟正黑體"/>
                        </a:rPr>
                        <a:t>有條件</a:t>
                      </a:r>
                    </a:p>
                  </a:txBody>
                  <a:tcPr anchor="ctr">
                    <a:solidFill>
                      <a:srgbClr val="FFFFFF"/>
                    </a:solidFill>
                  </a:tcPr>
                </a:tc>
                <a:tc>
                  <a:txBody>
                    <a:bodyPr wrap="square"/>
                    <a:lstStyle/>
                    <a:p>
                      <a:r>
                        <a:rPr sz="1400" b="0">
                          <a:solidFill>
                            <a:srgbClr val="222A35"/>
                          </a:solidFill>
                          <a:latin typeface="Barlow"/>
                          <a:ea typeface="微軟正黑體"/>
                        </a:rPr>
                        <a:t>現況數據吃數據 Agent 的 gateway</a:t>
                      </a:r>
                    </a:p>
                  </a:txBody>
                  <a:tcPr anchor="ctr">
                    <a:solidFill>
                      <a:srgbClr val="FFFFFF"/>
                    </a:solidFill>
                  </a:tcPr>
                </a:tc>
                <a:tc>
                  <a:txBody>
                    <a:bodyPr wrap="square"/>
                    <a:lstStyle/>
                    <a:p>
                      <a:r>
                        <a:rPr sz="1400" b="0">
                          <a:solidFill>
                            <a:srgbClr val="222A35"/>
                          </a:solidFill>
                          <a:latin typeface="Barlow"/>
                          <a:ea typeface="微軟正黑體"/>
                        </a:rPr>
                        <a:t>Phase 2</a:t>
                      </a:r>
                    </a:p>
                  </a:txBody>
                  <a:tcPr anchor="ctr">
                    <a:solidFill>
                      <a:srgbClr val="FFFFFF"/>
                    </a:solidFill>
                  </a:tcPr>
                </a:tc>
              </a:tr>
              <a:tr h="457200">
                <a:tc>
                  <a:txBody>
                    <a:bodyPr wrap="square"/>
                    <a:lstStyle/>
                    <a:p>
                      <a:r>
                        <a:rPr sz="1400" b="0">
                          <a:solidFill>
                            <a:srgbClr val="222A35"/>
                          </a:solidFill>
                          <a:latin typeface="Barlow"/>
                          <a:ea typeface="微軟正黑體"/>
                        </a:rPr>
                        <a:t>提案（競品外網搜尋）</a:t>
                      </a:r>
                    </a:p>
                  </a:txBody>
                  <a:tcPr anchor="ctr">
                    <a:solidFill>
                      <a:srgbClr val="E4E9F4"/>
                    </a:solidFill>
                  </a:tcPr>
                </a:tc>
                <a:tc>
                  <a:txBody>
                    <a:bodyPr wrap="square"/>
                    <a:lstStyle/>
                    <a:p>
                      <a:r>
                        <a:rPr sz="1400" b="0">
                          <a:solidFill>
                            <a:srgbClr val="C43826"/>
                          </a:solidFill>
                          <a:latin typeface="Barlow"/>
                          <a:ea typeface="微軟正黑體"/>
                        </a:rPr>
                        <a:t>● </a:t>
                      </a:r>
                      <a:r>
                        <a:rPr sz="1400" b="0">
                          <a:solidFill>
                            <a:srgbClr val="222A35"/>
                          </a:solidFill>
                          <a:latin typeface="Barlow"/>
                          <a:ea typeface="微軟正黑體"/>
                        </a:rPr>
                        <a:t>先緩</a:t>
                      </a:r>
                    </a:p>
                  </a:txBody>
                  <a:tcPr anchor="ctr">
                    <a:solidFill>
                      <a:srgbClr val="E4E9F4"/>
                    </a:solidFill>
                  </a:tcPr>
                </a:tc>
                <a:tc>
                  <a:txBody>
                    <a:bodyPr wrap="square"/>
                    <a:lstStyle/>
                    <a:p>
                      <a:r>
                        <a:rPr sz="1400" b="0">
                          <a:solidFill>
                            <a:srgbClr val="222A35"/>
                          </a:solidFill>
                          <a:latin typeface="Barlow"/>
                          <a:ea typeface="微軟正黑體"/>
                        </a:rPr>
                        <a:t>幻覺＋對外爬取合規風險</a:t>
                      </a:r>
                    </a:p>
                  </a:txBody>
                  <a:tcPr anchor="ctr">
                    <a:solidFill>
                      <a:srgbClr val="E4E9F4"/>
                    </a:solidFill>
                  </a:tcPr>
                </a:tc>
                <a:tc>
                  <a:txBody>
                    <a:bodyPr wrap="square"/>
                    <a:lstStyle/>
                    <a:p>
                      <a:r>
                        <a:rPr sz="1400" b="0">
                          <a:solidFill>
                            <a:srgbClr val="222A35"/>
                          </a:solidFill>
                          <a:latin typeface="Barlow"/>
                          <a:ea typeface="微軟正黑體"/>
                        </a:rPr>
                        <a:t>剔除</a:t>
                      </a:r>
                    </a:p>
                  </a:txBody>
                  <a:tcPr anchor="ctr">
                    <a:solidFill>
                      <a:srgbClr val="E4E9F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a:solidFill>
                  <a:srgbClr val="222A35"/>
                </a:solidFill>
                <a:latin typeface="Barlow"/>
                <a:ea typeface="微軟正黑體"/>
              </a:rPr>
              <a:t>會議記錄 Agent</a:t>
            </a:r>
          </a:p>
          <a:p>
            <a:r>
              <a:rPr>
                <a:solidFill>
                  <a:srgbClr val="222A35"/>
                </a:solidFill>
                <a:latin typeface="Barlow"/>
                <a:ea typeface="微軟正黑體"/>
              </a:rPr>
              <a:t>PRD 提案助手</a:t>
            </a:r>
          </a:p>
          <a:p>
            <a:r>
              <a:rPr>
                <a:solidFill>
                  <a:srgbClr val="222A35"/>
                </a:solidFill>
                <a:latin typeface="Barlow"/>
                <a:ea typeface="微軟正黑體"/>
              </a:rPr>
              <a:t>時程催辦（Planner）</a:t>
            </a:r>
          </a:p>
          <a:p>
            <a:r>
              <a:rPr>
                <a:solidFill>
                  <a:srgbClr val="222A35"/>
                </a:solidFill>
                <a:latin typeface="Barlow"/>
                <a:ea typeface="微軟正黑體"/>
              </a:rPr>
              <a:t>純 M365 連接器，零基建</a:t>
            </a:r>
          </a:p>
          <a:p>
            <a:r>
              <a:rPr>
                <a:solidFill>
                  <a:srgbClr val="222A35"/>
                </a:solidFill>
                <a:latin typeface="Barlow"/>
                <a:ea typeface="微軟正黑體"/>
              </a:rPr>
              <a:t>1–2 週可對評審 demo</a:t>
            </a:r>
          </a:p>
        </p:txBody>
      </p:sp>
      <p:sp>
        <p:nvSpPr>
          <p:cNvPr id="3" name="Content Placeholder 2"/>
          <p:cNvSpPr>
            <a:spLocks noGrp="1"/>
          </p:cNvSpPr>
          <p:nvPr>
            <p:ph idx="11" sz="quarter"/>
          </p:nvPr>
        </p:nvSpPr>
        <p:spPr/>
        <p:txBody>
          <a:bodyPr/>
          <a:lstStyle/>
          <a:p>
            <a:r>
              <a:rPr>
                <a:solidFill>
                  <a:srgbClr val="222A35"/>
                </a:solidFill>
                <a:latin typeface="Barlow"/>
                <a:ea typeface="微軟正黑體"/>
              </a:rPr>
              <a:t>數據 Agent（CUBE／神策）</a:t>
            </a:r>
          </a:p>
          <a:p>
            <a:r>
              <a:rPr>
                <a:solidFill>
                  <a:srgbClr val="222A35"/>
                </a:solidFill>
                <a:latin typeface="Barlow"/>
                <a:ea typeface="微軟正黑體"/>
              </a:rPr>
              <a:t>KPI 缺口分析</a:t>
            </a:r>
          </a:p>
          <a:p>
            <a:r>
              <a:rPr>
                <a:solidFill>
                  <a:srgbClr val="222A35"/>
                </a:solidFill>
                <a:latin typeface="Barlow"/>
                <a:ea typeface="微軟正黑體"/>
              </a:rPr>
              <a:t>需 on-prem gateway</a:t>
            </a:r>
          </a:p>
          <a:p>
            <a:r>
              <a:rPr>
                <a:solidFill>
                  <a:srgbClr val="222A35"/>
                </a:solidFill>
                <a:latin typeface="Barlow"/>
                <a:ea typeface="微軟正黑體"/>
              </a:rPr>
              <a:t>需查詢範本白名單</a:t>
            </a:r>
          </a:p>
          <a:p>
            <a:r>
              <a:rPr>
                <a:solidFill>
                  <a:srgbClr val="222A35"/>
                </a:solidFill>
                <a:latin typeface="Barlow"/>
                <a:ea typeface="微軟正黑體"/>
              </a:rPr>
              <a:t>資安審查後上線</a:t>
            </a:r>
          </a:p>
        </p:txBody>
      </p:sp>
      <p:sp>
        <p:nvSpPr>
          <p:cNvPr id="4" name="Title 3"/>
          <p:cNvSpPr>
            <a:spLocks noGrp="1"/>
          </p:cNvSpPr>
          <p:nvPr>
            <p:ph type="title"/>
          </p:nvPr>
        </p:nvSpPr>
        <p:spPr/>
        <p:txBody>
          <a:bodyPr/>
          <a:lstStyle/>
          <a:p>
            <a:r>
              <a:rPr b="1" sz="2400">
                <a:latin typeface="Barlow"/>
                <a:ea typeface="Microsoft YaHei"/>
              </a:rPr>
              <a:t>Phase 1 先卡進度，Phase 2 等基礎建設到位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3200">
                <a:latin typeface="Barlow"/>
                <a:ea typeface="Microsoft YaHei"/>
              </a:rPr>
              <a:t>Part 2｜架構與資料流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latin typeface="Barlow"/>
                <a:ea typeface="Microsoft YaHei"/>
              </a:rPr>
              <a:t>資料流架構：LLM 只在入口與出口，查詢走白名單</a:t>
            </a:r>
          </a:p>
        </p:txBody>
      </p:sp>
      <p:sp>
        <p:nvSpPr>
          <p:cNvPr id="3" name="Rounded Rectangle 2"/>
          <p:cNvSpPr/>
          <p:nvPr/>
        </p:nvSpPr>
        <p:spPr>
          <a:xfrm>
            <a:off x="396000" y="2268000"/>
            <a:ext cx="1986622" cy="827999"/>
          </a:xfrm>
          <a:prstGeom prst="roundRect">
            <a:avLst/>
          </a:prstGeom>
          <a:solidFill>
            <a:srgbClr val="172439"/>
          </a:solidFill>
          <a:ln>
            <a:solidFill>
              <a:srgbClr val="172439"/>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PM</a:t>
            </a:r>
          </a:p>
          <a:p>
            <a:pPr algn="ctr"/>
            <a:r>
              <a:rPr sz="1200" b="1">
                <a:solidFill>
                  <a:srgbClr val="FFFFFF"/>
                </a:solidFill>
                <a:latin typeface="微軟正黑體"/>
                <a:ea typeface="微軟正黑體"/>
                <a:cs typeface="微軟正黑體"/>
              </a:rPr>
              <a:t>自然語言提問</a:t>
            </a:r>
          </a:p>
        </p:txBody>
      </p:sp>
      <p:sp>
        <p:nvSpPr>
          <p:cNvPr id="4" name="Rounded Rectangle 3"/>
          <p:cNvSpPr/>
          <p:nvPr/>
        </p:nvSpPr>
        <p:spPr>
          <a:xfrm>
            <a:off x="2688622" y="2268000"/>
            <a:ext cx="1986622" cy="827999"/>
          </a:xfrm>
          <a:prstGeom prst="roundRect">
            <a:avLst/>
          </a:prstGeom>
          <a:solidFill>
            <a:srgbClr val="172439"/>
          </a:solidFill>
          <a:ln>
            <a:solidFill>
              <a:srgbClr val="172439"/>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Copilot Studio</a:t>
            </a:r>
          </a:p>
          <a:p>
            <a:pPr algn="ctr"/>
            <a:r>
              <a:rPr sz="1200" b="1">
                <a:solidFill>
                  <a:srgbClr val="FFFFFF"/>
                </a:solidFill>
                <a:latin typeface="微軟正黑體"/>
                <a:ea typeface="微軟正黑體"/>
                <a:cs typeface="微軟正黑體"/>
              </a:rPr>
              <a:t>Azure OpenAI 租戶內</a:t>
            </a:r>
          </a:p>
        </p:txBody>
      </p:sp>
      <p:sp>
        <p:nvSpPr>
          <p:cNvPr id="5" name="Rounded Rectangle 4"/>
          <p:cNvSpPr/>
          <p:nvPr/>
        </p:nvSpPr>
        <p:spPr>
          <a:xfrm>
            <a:off x="4981244" y="2268000"/>
            <a:ext cx="1986622" cy="827999"/>
          </a:xfrm>
          <a:prstGeom prst="roundRect">
            <a:avLst/>
          </a:prstGeom>
          <a:solidFill>
            <a:srgbClr val="172439"/>
          </a:solidFill>
          <a:ln>
            <a:solidFill>
              <a:srgbClr val="172439"/>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Power Automate</a:t>
            </a:r>
          </a:p>
          <a:p>
            <a:pPr algn="ctr"/>
            <a:r>
              <a:rPr sz="1200" b="1">
                <a:solidFill>
                  <a:srgbClr val="FFFFFF"/>
                </a:solidFill>
                <a:latin typeface="微軟正黑體"/>
                <a:ea typeface="微軟正黑體"/>
                <a:cs typeface="微軟正黑體"/>
              </a:rPr>
              <a:t>帶 PM 身分</a:t>
            </a:r>
          </a:p>
        </p:txBody>
      </p:sp>
      <p:sp>
        <p:nvSpPr>
          <p:cNvPr id="6" name="Rounded Rectangle 5"/>
          <p:cNvSpPr/>
          <p:nvPr/>
        </p:nvSpPr>
        <p:spPr>
          <a:xfrm>
            <a:off x="7273866" y="2268000"/>
            <a:ext cx="1986622" cy="827999"/>
          </a:xfrm>
          <a:prstGeom prst="roundRect">
            <a:avLst/>
          </a:prstGeom>
          <a:solidFill>
            <a:srgbClr val="C43826"/>
          </a:solidFill>
          <a:ln>
            <a:solidFill>
              <a:srgbClr val="C43826"/>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查詢範本</a:t>
            </a:r>
          </a:p>
          <a:p>
            <a:pPr algn="ctr"/>
            <a:r>
              <a:rPr sz="1200" b="1">
                <a:solidFill>
                  <a:srgbClr val="FFFFFF"/>
                </a:solidFill>
                <a:latin typeface="微軟正黑體"/>
                <a:ea typeface="微軟正黑體"/>
                <a:cs typeface="微軟正黑體"/>
              </a:rPr>
              <a:t>白名單（守門）</a:t>
            </a:r>
          </a:p>
        </p:txBody>
      </p:sp>
      <p:sp>
        <p:nvSpPr>
          <p:cNvPr id="7" name="Rounded Rectangle 6"/>
          <p:cNvSpPr/>
          <p:nvPr/>
        </p:nvSpPr>
        <p:spPr>
          <a:xfrm>
            <a:off x="9566488" y="2268000"/>
            <a:ext cx="1986622" cy="827999"/>
          </a:xfrm>
          <a:prstGeom prst="roundRect">
            <a:avLst/>
          </a:prstGeom>
          <a:solidFill>
            <a:srgbClr val="172439"/>
          </a:solidFill>
          <a:ln>
            <a:solidFill>
              <a:srgbClr val="172439"/>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CUBE／神策</a:t>
            </a:r>
          </a:p>
          <a:p>
            <a:pPr algn="ctr"/>
            <a:r>
              <a:rPr sz="1200" b="1">
                <a:solidFill>
                  <a:srgbClr val="FFFFFF"/>
                </a:solidFill>
                <a:latin typeface="微軟正黑體"/>
                <a:ea typeface="微軟正黑體"/>
                <a:cs typeface="微軟正黑體"/>
              </a:rPr>
              <a:t>Jira／Planner</a:t>
            </a:r>
          </a:p>
        </p:txBody>
      </p:sp>
      <p:sp>
        <p:nvSpPr>
          <p:cNvPr id="8" name="Right Arrow 7"/>
          <p:cNvSpPr/>
          <p:nvPr/>
        </p:nvSpPr>
        <p:spPr>
          <a:xfrm>
            <a:off x="2382622" y="2556000"/>
            <a:ext cx="306000" cy="251999"/>
          </a:xfrm>
          <a:prstGeom prst="rightArrow">
            <a:avLst/>
          </a:prstGeom>
          <a:solidFill>
            <a:srgbClr val="4A5568"/>
          </a:solidFill>
          <a:ln>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
            </a:r>
          </a:p>
        </p:txBody>
      </p:sp>
      <p:sp>
        <p:nvSpPr>
          <p:cNvPr id="9" name="Right Arrow 8"/>
          <p:cNvSpPr/>
          <p:nvPr/>
        </p:nvSpPr>
        <p:spPr>
          <a:xfrm>
            <a:off x="4675244" y="2556000"/>
            <a:ext cx="306000" cy="251999"/>
          </a:xfrm>
          <a:prstGeom prst="rightArrow">
            <a:avLst/>
          </a:prstGeom>
          <a:solidFill>
            <a:srgbClr val="4A5568"/>
          </a:solidFill>
          <a:ln>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
            </a:r>
          </a:p>
        </p:txBody>
      </p:sp>
      <p:sp>
        <p:nvSpPr>
          <p:cNvPr id="10" name="Right Arrow 9"/>
          <p:cNvSpPr/>
          <p:nvPr/>
        </p:nvSpPr>
        <p:spPr>
          <a:xfrm>
            <a:off x="6967866" y="2556000"/>
            <a:ext cx="306000" cy="251999"/>
          </a:xfrm>
          <a:prstGeom prst="rightArrow">
            <a:avLst/>
          </a:prstGeom>
          <a:solidFill>
            <a:srgbClr val="4A5568"/>
          </a:solidFill>
          <a:ln>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
            </a:r>
          </a:p>
        </p:txBody>
      </p:sp>
      <p:sp>
        <p:nvSpPr>
          <p:cNvPr id="11" name="Right Arrow 10"/>
          <p:cNvSpPr/>
          <p:nvPr/>
        </p:nvSpPr>
        <p:spPr>
          <a:xfrm>
            <a:off x="9260488" y="2556000"/>
            <a:ext cx="306000" cy="251999"/>
          </a:xfrm>
          <a:prstGeom prst="rightArrow">
            <a:avLst/>
          </a:prstGeom>
          <a:solidFill>
            <a:srgbClr val="4A5568"/>
          </a:solidFill>
          <a:ln>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
            </a:r>
          </a:p>
        </p:txBody>
      </p:sp>
      <p:sp>
        <p:nvSpPr>
          <p:cNvPr id="12" name="Pentagon 11"/>
          <p:cNvSpPr/>
          <p:nvPr/>
        </p:nvSpPr>
        <p:spPr>
          <a:xfrm>
            <a:off x="2688622" y="3491999"/>
            <a:ext cx="8864488" cy="540000"/>
          </a:xfrm>
          <a:prstGeom prst="homePlate">
            <a:avLst/>
          </a:prstGeom>
          <a:solidFill>
            <a:srgbClr val="4A5568"/>
          </a:solidFill>
          <a:ln>
            <a:solidFill>
              <a:srgbClr val="4A5568"/>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10800" bIns="10800"/>
          <a:lstStyle/>
          <a:p>
            <a:pPr algn="ctr"/>
            <a:r>
              <a:rPr sz="1200" b="1">
                <a:solidFill>
                  <a:srgbClr val="FFFFFF"/>
                </a:solidFill>
                <a:latin typeface="微軟正黑體"/>
                <a:ea typeface="微軟正黑體"/>
                <a:cs typeface="微軟正黑體"/>
              </a:rPr>
              <a:t>回傳 JSON → 轉繁體中文摘要＋Markdown 表 → 回覆 PM</a:t>
            </a:r>
          </a:p>
        </p:txBody>
      </p:sp>
      <p:sp>
        <p:nvSpPr>
          <p:cNvPr id="13" name="TextBox 12"/>
          <p:cNvSpPr txBox="1"/>
          <p:nvPr/>
        </p:nvSpPr>
        <p:spPr>
          <a:xfrm>
            <a:off x="396000" y="4175999"/>
            <a:ext cx="11157113" cy="503999"/>
          </a:xfrm>
          <a:prstGeom prst="rect">
            <a:avLst/>
          </a:prstGeom>
          <a:noFill/>
        </p:spPr>
        <p:txBody>
          <a:bodyPr wrap="square">
            <a:spAutoFit/>
          </a:bodyPr>
          <a:lstStyle/>
          <a:p>
            <a:pPr algn="ctr"/>
            <a:r>
              <a:rPr sz="1200">
                <a:solidFill>
                  <a:srgbClr val="172439"/>
                </a:solidFill>
                <a:latin typeface="微軟正黑體"/>
                <a:ea typeface="微軟正黑體"/>
                <a:cs typeface="微軟正黑體"/>
              </a:rPr>
              <a:t>LLM 只在入口與出口；查詢一律走白名單，不直接碰資料庫。</a:t>
            </a:r>
          </a:p>
          <a:p>
            <a:pPr algn="ctr"/>
            <a:r>
              <a:rPr sz="1200">
                <a:solidFill>
                  <a:srgbClr val="172439"/>
                </a:solidFill>
                <a:latin typeface="微軟正黑體"/>
                <a:ea typeface="微軟正黑體"/>
                <a:cs typeface="微軟正黑體"/>
              </a:rPr>
              <a:t>自動催辦／開單皆需 PM 確認；全程寫稽核 Log。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latin typeface="Barlow"/>
                <a:ea typeface="Microsoft YaHei"/>
              </a:rPr>
              <a:t>三道防線讓 Agent 可信，資安審查好過關</a:t>
            </a:r>
          </a:p>
        </p:txBody>
      </p:sp>
      <p:sp>
        <p:nvSpPr>
          <p:cNvPr id="3" name="Content Placeholder 2"/>
          <p:cNvSpPr>
            <a:spLocks noGrp="1"/>
          </p:cNvSpPr>
          <p:nvPr>
            <p:ph idx="10" sz="quarter"/>
          </p:nvPr>
        </p:nvSpPr>
        <p:spPr/>
        <p:txBody>
          <a:bodyPr/>
          <a:lstStyle/>
          <a:p>
            <a:r>
              <a:rPr>
                <a:solidFill>
                  <a:srgbClr val="222A35"/>
                </a:solidFill>
                <a:latin typeface="Barlow"/>
                <a:ea typeface="微軟正黑體"/>
              </a:rPr>
              <a:t>查詢白名單：LLM 只填參數，不自由生 SQL／MDX，口徑可驗證</a:t>
            </a:r>
          </a:p>
          <a:p>
            <a:r>
              <a:rPr>
                <a:solidFill>
                  <a:srgbClr val="222A35"/>
                </a:solidFill>
                <a:latin typeface="Barlow"/>
                <a:ea typeface="微軟正黑體"/>
              </a:rPr>
              <a:t>人在迴路：自動催辦、自動開單一律 PM 確認才送出</a:t>
            </a:r>
          </a:p>
          <a:p>
            <a:r>
              <a:rPr>
                <a:solidFill>
                  <a:srgbClr val="222A35"/>
                </a:solidFill>
                <a:latin typeface="Barlow"/>
                <a:ea typeface="微軟正黑體"/>
              </a:rPr>
              <a:t>身分與稽核：帶 PM 身分做列級權限，全程留 log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Part 3｜如何在 Copilot Studio 建置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會議記錄 Agent：六步、約 30 分鐘可跑（Phase 1 範本）</a:t>
            </a:r>
          </a:p>
        </p:txBody>
      </p:sp>
      <p:sp>
        <p:nvSpPr>
          <p:cNvPr id="3" name="Content Placeholder 2"/>
          <p:cNvSpPr>
            <a:spLocks noGrp="1"/>
          </p:cNvSpPr>
          <p:nvPr>
            <p:ph idx="10" sz="quarter"/>
          </p:nvPr>
        </p:nvSpPr>
        <p:spPr/>
        <p:txBody>
          <a:bodyPr/>
          <a:lstStyle/>
          <a:p>
            <a:r>
              <a:rPr>
                <a:solidFill>
                  <a:srgbClr val="222A35"/>
                </a:solidFill>
                <a:latin typeface="Barlow"/>
                <a:ea typeface="微軟正黑體"/>
              </a:rPr>
              <a:t>建 Agent，語言選繁體中文</a:t>
            </a:r>
          </a:p>
          <a:p>
            <a:r>
              <a:rPr>
                <a:solidFill>
                  <a:srgbClr val="222A35"/>
                </a:solidFill>
                <a:latin typeface="Barlow"/>
                <a:ea typeface="微軟正黑體"/>
              </a:rPr>
              <a:t>貼 Instructions：會議結論＋待辦表＋『需 PM 確認』欄位</a:t>
            </a:r>
          </a:p>
          <a:p>
            <a:r>
              <a:rPr>
                <a:solidFill>
                  <a:srgbClr val="222A35"/>
                </a:solidFill>
                <a:latin typeface="Barlow"/>
                <a:ea typeface="微軟正黑體"/>
              </a:rPr>
              <a:t>關掉 General knowledge，避免補會議沒講的內容</a:t>
            </a:r>
          </a:p>
          <a:p>
            <a:r>
              <a:rPr>
                <a:solidFill>
                  <a:srgbClr val="222A35"/>
                </a:solidFill>
                <a:latin typeface="Barlow"/>
                <a:ea typeface="微軟正黑體"/>
              </a:rPr>
              <a:t>加 Action：連 Planner 的 Create task</a:t>
            </a:r>
          </a:p>
          <a:p>
            <a:r>
              <a:rPr>
                <a:solidFill>
                  <a:srgbClr val="222A35"/>
                </a:solidFill>
                <a:latin typeface="Barlow"/>
                <a:ea typeface="微軟正黑體"/>
              </a:rPr>
              <a:t>開單前加確認關卡（Adaptive Card），PM 點頭才開單</a:t>
            </a:r>
          </a:p>
          <a:p>
            <a:r>
              <a:rPr>
                <a:solidFill>
                  <a:srgbClr val="222A35"/>
                </a:solidFill>
                <a:latin typeface="Barlow"/>
                <a:ea typeface="微軟正黑體"/>
              </a:rPr>
              <a:t>Test 面板貼逐字稿驗證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數據 Agent：架 gateway＋查詢白名單（Phase 2）</a:t>
            </a:r>
          </a:p>
        </p:txBody>
      </p:sp>
      <p:sp>
        <p:nvSpPr>
          <p:cNvPr id="3" name="Content Placeholder 2"/>
          <p:cNvSpPr>
            <a:spLocks noGrp="1"/>
          </p:cNvSpPr>
          <p:nvPr>
            <p:ph idx="10" sz="quarter"/>
          </p:nvPr>
        </p:nvSpPr>
        <p:spPr/>
        <p:txBody>
          <a:bodyPr/>
          <a:lstStyle/>
          <a:p>
            <a:r>
              <a:rPr>
                <a:solidFill>
                  <a:srgbClr val="222A35"/>
                </a:solidFill>
                <a:latin typeface="Barlow"/>
                <a:ea typeface="微軟正黑體"/>
              </a:rPr>
              <a:t>架 on-prem data gateway，讓雲端 Copilot 能連內部</a:t>
            </a:r>
          </a:p>
          <a:p>
            <a:r>
              <a:rPr>
                <a:solidFill>
                  <a:srgbClr val="222A35"/>
                </a:solidFill>
                <a:latin typeface="Barlow"/>
                <a:ea typeface="微軟正黑體"/>
              </a:rPr>
              <a:t>自訂連接器串接 CUBE／神策／Metabase</a:t>
            </a:r>
          </a:p>
          <a:p>
            <a:r>
              <a:rPr>
                <a:solidFill>
                  <a:srgbClr val="222A35"/>
                </a:solidFill>
                <a:latin typeface="Barlow"/>
                <a:ea typeface="微軟正黑體"/>
              </a:rPr>
              <a:t>定義查詢範本白名單（留存、漏斗、GMV… 約 15 種）</a:t>
            </a:r>
          </a:p>
          <a:p>
            <a:r>
              <a:rPr>
                <a:solidFill>
                  <a:srgbClr val="222A35"/>
                </a:solidFill>
                <a:latin typeface="Barlow"/>
                <a:ea typeface="微軟正黑體"/>
              </a:rPr>
              <a:t>LLM 只填參數（日期／平台／功能），回傳 JSON 轉繁中摘要＋表</a:t>
            </a:r>
          </a:p>
          <a:p>
            <a:r>
              <a:rPr>
                <a:solidFill>
                  <a:srgbClr val="222A35"/>
                </a:solidFill>
                <a:latin typeface="Barlow"/>
                <a:ea typeface="微軟正黑體"/>
              </a:rPr>
              <a:t>帶 PM 身分做列級權限，全程稽核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400">
                <a:latin typeface="Barlow"/>
                <a:ea typeface="Microsoft YaHei"/>
              </a:rPr>
              <a:t>Phase 1 三個 Agent，兩週內對評審 demo</a:t>
            </a:r>
          </a:p>
        </p:txBody>
      </p:sp>
      <p:sp>
        <p:nvSpPr>
          <p:cNvPr id="3" name="Content Placeholder 2"/>
          <p:cNvSpPr>
            <a:spLocks noGrp="1"/>
          </p:cNvSpPr>
          <p:nvPr>
            <p:ph idx="10" sz="quarter"/>
          </p:nvPr>
        </p:nvSpPr>
        <p:spPr/>
        <p:txBody>
          <a:bodyPr/>
          <a:lstStyle/>
          <a:p>
            <a:r>
              <a:rPr>
                <a:solidFill>
                  <a:srgbClr val="222A35"/>
                </a:solidFill>
                <a:latin typeface="Barlow"/>
                <a:ea typeface="微軟正黑體"/>
              </a:rPr>
              <a:t>本週：會議記錄 Agent 建置，試跑真實會議逐字稿</a:t>
            </a:r>
          </a:p>
          <a:p>
            <a:r>
              <a:rPr>
                <a:solidFill>
                  <a:srgbClr val="222A35"/>
                </a:solidFill>
                <a:latin typeface="Barlow"/>
                <a:ea typeface="微軟正黑體"/>
              </a:rPr>
              <a:t>同步：PRD 提案助手（純 LLM，半天可成）</a:t>
            </a:r>
          </a:p>
          <a:p>
            <a:r>
              <a:rPr>
                <a:solidFill>
                  <a:srgbClr val="222A35"/>
                </a:solidFill>
                <a:latin typeface="Barlow"/>
                <a:ea typeface="微軟正黑體"/>
              </a:rPr>
              <a:t>兩週內：時程催辦（Planner），含 PM 確認的催辦文案</a:t>
            </a:r>
          </a:p>
          <a:p>
            <a:r>
              <a:rPr>
                <a:solidFill>
                  <a:srgbClr val="222A35"/>
                </a:solidFill>
                <a:latin typeface="Barlow"/>
                <a:ea typeface="微軟正黑體"/>
              </a:rPr>
              <a:t>Phase 2 前置：申請 gateway 與查詢白名單清單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sz="2800">
                <a:latin typeface="Barlow"/>
                <a:ea typeface="Microsoft YaHei"/>
              </a:rPr>
              <a:t>謝謝，Phase 1 我可以陪你一步步建</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20378</TotalTime>
  <Words>44</Words>
  <Application>Microsoft Office PowerPoint</Application>
  <PresentationFormat>自訂</PresentationFormat>
  <Paragraphs>9</Paragraphs>
  <Slides>2</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vt:i4>
      </vt:variant>
    </vt:vector>
  </HeadingPairs>
  <TitlesOfParts>
    <vt:vector size="7" baseType="lpstr">
      <vt:lpstr>微軟正黑體</vt:lpstr>
      <vt:lpstr>Arial</vt:lpstr>
      <vt:lpstr>Times New Roman</vt:lpstr>
      <vt:lpstr>Wingdings</vt:lpstr>
      <vt:lpstr>Universal Template</vt:lpstr>
      <vt:lpstr>簡報標題</vt:lpstr>
      <vt:lpstr>每頁標題</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夏永馨-資訊營管部-永豐金證券</cp:lastModifiedBy>
  <cp:revision>1468</cp:revision>
  <cp:lastPrinted>2005-12-20T16:28:07Z</cp:lastPrinted>
  <dcterms:created xsi:type="dcterms:W3CDTF">2005-10-04T01:34:02Z</dcterms:created>
  <dcterms:modified xsi:type="dcterms:W3CDTF">2022-07-29T00:09:08Z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